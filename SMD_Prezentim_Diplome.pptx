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308D8CF-8DD9-4457-8B53-D3ADE0E17B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20833" r="20833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E93642E-5DC3-4F5C-91BE-5B81BF783154}"/>
              </a:ext>
            </a:extLst>
          </p:cNvPr>
          <p:cNvSpPr>
            <a:spLocks noGrp="1"/>
          </p:cNvSpPr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10212B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5DA661-1EEE-4D85-9387-DDFE87EC05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C18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CD07C3-F4DB-4180-88E5-11F10BBBDC9C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8B3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B36A"/>
                </a:solidFill>
                <a:latin typeface="Aptos"/>
                <a:ea typeface="Aptos"/>
                <a:cs typeface="Aptos"/>
              </a:rPr>
              <a:t>PREZANTIM DIPLOME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FC3CFA-9AA8-4035-8FF3-B9FA93F94295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4953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SMD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BF9943-FB7D-428C-BD27-4EE06DD54271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619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F4EBDD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F4EBDD"/>
                </a:solidFill>
                <a:latin typeface="Georgia"/>
                <a:ea typeface="Georgia"/>
                <a:cs typeface="Georgia"/>
              </a:rPr>
              <a:t>Sistem për Menaxhimin e Depos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5DC8E6-C4CD-498C-9F3C-2139164A231D}"/>
              </a:ext>
            </a:extLst>
          </p:cNvPr>
          <p:cNvSpPr>
            <a:spLocks noGrp="1"/>
          </p:cNvSpPr>
          <p:nvPr/>
        </p:nvSpPr>
        <p:spPr>
          <a:xfrm>
            <a:off x="628650" y="2781300"/>
            <a:ext cx="5334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4DEE2"/>
                </a:solidFill>
                <a:latin typeface="Aptos"/>
                <a:ea typeface="Aptos"/>
                <a:cs typeface="Aptos"/>
              </a:defRPr>
            </a:pPr>
            <a:r>
              <a:rPr sz="1425" b="0" dirty="0" err="1">
                <a:solidFill>
                  <a:srgbClr val="D4DEE2"/>
                </a:solidFill>
                <a:latin typeface="Aptos"/>
                <a:ea typeface="Aptos"/>
                <a:cs typeface="Aptos"/>
              </a:rPr>
              <a:t>Një</a:t>
            </a:r>
            <a:r>
              <a:rPr sz="1425" b="0" dirty="0">
                <a:solidFill>
                  <a:srgbClr val="D4DEE2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D4DEE2"/>
                </a:solidFill>
                <a:latin typeface="Aptos"/>
                <a:ea typeface="Aptos"/>
                <a:cs typeface="Aptos"/>
              </a:rPr>
              <a:t>zgjidhje</a:t>
            </a:r>
            <a:r>
              <a:rPr sz="1425" b="0" dirty="0">
                <a:solidFill>
                  <a:srgbClr val="D4DEE2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D4DEE2"/>
                </a:solidFill>
                <a:latin typeface="Aptos"/>
                <a:ea typeface="Aptos"/>
                <a:cs typeface="Aptos"/>
              </a:rPr>
              <a:t>që</a:t>
            </a:r>
            <a:r>
              <a:rPr sz="1425" b="0" dirty="0">
                <a:solidFill>
                  <a:srgbClr val="D4DEE2"/>
                </a:solidFill>
                <a:latin typeface="Aptos"/>
                <a:ea typeface="Aptos"/>
                <a:cs typeface="Aptos"/>
              </a:rPr>
              <a:t> e </a:t>
            </a:r>
            <a:r>
              <a:rPr sz="1425" b="0" dirty="0" err="1">
                <a:solidFill>
                  <a:srgbClr val="D4DEE2"/>
                </a:solidFill>
                <a:latin typeface="Aptos"/>
                <a:ea typeface="Aptos"/>
                <a:cs typeface="Aptos"/>
              </a:rPr>
              <a:t>lidh</a:t>
            </a:r>
            <a:r>
              <a:rPr sz="1425" b="0" dirty="0">
                <a:solidFill>
                  <a:srgbClr val="D4DEE2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D4DEE2"/>
                </a:solidFill>
                <a:latin typeface="Aptos"/>
                <a:ea typeface="Aptos"/>
                <a:cs typeface="Aptos"/>
              </a:rPr>
              <a:t>punën</a:t>
            </a:r>
            <a:r>
              <a:rPr sz="1425" b="0" dirty="0">
                <a:solidFill>
                  <a:srgbClr val="D4DEE2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D4DEE2"/>
                </a:solidFill>
                <a:latin typeface="Aptos"/>
                <a:ea typeface="Aptos"/>
                <a:cs typeface="Aptos"/>
              </a:rPr>
              <a:t>në</a:t>
            </a:r>
            <a:r>
              <a:rPr sz="1425" b="0" dirty="0">
                <a:solidFill>
                  <a:srgbClr val="D4DEE2"/>
                </a:solidFill>
                <a:latin typeface="Aptos"/>
                <a:ea typeface="Aptos"/>
                <a:cs typeface="Aptos"/>
              </a:rPr>
              <a:t> depo me </a:t>
            </a:r>
            <a:r>
              <a:rPr sz="1425" b="0" dirty="0" err="1">
                <a:solidFill>
                  <a:srgbClr val="D4DEE2"/>
                </a:solidFill>
                <a:latin typeface="Aptos"/>
                <a:ea typeface="Aptos"/>
                <a:cs typeface="Aptos"/>
              </a:rPr>
              <a:t>inventar</a:t>
            </a:r>
            <a:r>
              <a:rPr sz="1425" b="0" dirty="0">
                <a:solidFill>
                  <a:srgbClr val="D4DEE2"/>
                </a:solidFill>
                <a:latin typeface="Aptos"/>
                <a:ea typeface="Aptos"/>
                <a:cs typeface="Aptos"/>
              </a:rPr>
              <a:t>, </a:t>
            </a:r>
            <a:r>
              <a:rPr sz="1425" b="0" dirty="0" err="1">
                <a:solidFill>
                  <a:srgbClr val="D4DEE2"/>
                </a:solidFill>
                <a:latin typeface="Aptos"/>
                <a:ea typeface="Aptos"/>
                <a:cs typeface="Aptos"/>
              </a:rPr>
              <a:t>dokumente</a:t>
            </a:r>
            <a:r>
              <a:rPr sz="1425" b="0" dirty="0">
                <a:solidFill>
                  <a:srgbClr val="D4DEE2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D4DEE2"/>
                </a:solidFill>
                <a:latin typeface="Aptos"/>
                <a:ea typeface="Aptos"/>
                <a:cs typeface="Aptos"/>
              </a:rPr>
              <a:t>të</a:t>
            </a:r>
            <a:r>
              <a:rPr sz="1425" b="0" dirty="0">
                <a:solidFill>
                  <a:srgbClr val="D4DEE2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D4DEE2"/>
                </a:solidFill>
                <a:latin typeface="Aptos"/>
                <a:ea typeface="Aptos"/>
                <a:cs typeface="Aptos"/>
              </a:rPr>
              <a:t>kontrolluara</a:t>
            </a:r>
            <a:r>
              <a:rPr sz="1425" b="0" dirty="0">
                <a:solidFill>
                  <a:srgbClr val="D4DEE2"/>
                </a:solidFill>
                <a:latin typeface="Aptos"/>
                <a:ea typeface="Aptos"/>
                <a:cs typeface="Aptos"/>
              </a:rPr>
              <a:t>, </a:t>
            </a:r>
            <a:r>
              <a:rPr sz="1425" b="0" dirty="0" err="1">
                <a:solidFill>
                  <a:srgbClr val="D4DEE2"/>
                </a:solidFill>
                <a:latin typeface="Aptos"/>
                <a:ea typeface="Aptos"/>
                <a:cs typeface="Aptos"/>
              </a:rPr>
              <a:t>gjurmueshmëri</a:t>
            </a:r>
            <a:r>
              <a:rPr sz="1425" b="0" dirty="0">
                <a:solidFill>
                  <a:srgbClr val="D4DEE2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D4DEE2"/>
                </a:solidFill>
                <a:latin typeface="Aptos"/>
                <a:ea typeface="Aptos"/>
                <a:cs typeface="Aptos"/>
              </a:rPr>
              <a:t>dhe</a:t>
            </a:r>
            <a:r>
              <a:rPr sz="1425" b="0" dirty="0">
                <a:solidFill>
                  <a:srgbClr val="D4DEE2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D4DEE2"/>
                </a:solidFill>
                <a:latin typeface="Aptos"/>
                <a:ea typeface="Aptos"/>
                <a:cs typeface="Aptos"/>
              </a:rPr>
              <a:t>vendimmarrje</a:t>
            </a:r>
            <a:r>
              <a:rPr sz="1425" b="0" dirty="0">
                <a:solidFill>
                  <a:srgbClr val="D4DEE2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D4DEE2"/>
                </a:solidFill>
                <a:latin typeface="Aptos"/>
                <a:ea typeface="Aptos"/>
                <a:cs typeface="Aptos"/>
              </a:rPr>
              <a:t>biznesi</a:t>
            </a:r>
            <a:r>
              <a:rPr sz="1425" b="0" dirty="0">
                <a:solidFill>
                  <a:srgbClr val="D4DEE2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13D918-3E5A-4318-8FE1-42D2940020A9}"/>
              </a:ext>
            </a:extLst>
          </p:cNvPr>
          <p:cNvSpPr>
            <a:spLocks noGrp="1"/>
          </p:cNvSpPr>
          <p:nvPr/>
        </p:nvSpPr>
        <p:spPr>
          <a:xfrm>
            <a:off x="628650" y="4400550"/>
            <a:ext cx="16954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A9ABCC-DE72-4A08-BC3C-3C8898095919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352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C1863A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C1863A"/>
                </a:solidFill>
                <a:latin typeface="Georgia"/>
                <a:ea typeface="Georgia"/>
                <a:cs typeface="Georgia"/>
              </a:rPr>
              <a:t>.NET 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7B2695-AA26-420C-A71B-D31F6AA2E12D}"/>
              </a:ext>
            </a:extLst>
          </p:cNvPr>
          <p:cNvSpPr>
            <a:spLocks noGrp="1"/>
          </p:cNvSpPr>
          <p:nvPr/>
        </p:nvSpPr>
        <p:spPr>
          <a:xfrm>
            <a:off x="781050" y="4943475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Backend me JWT, EF Core dhe SQL Server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FE8E07-1E5F-4F5F-A86A-83D8F909A755}"/>
              </a:ext>
            </a:extLst>
          </p:cNvPr>
          <p:cNvSpPr>
            <a:spLocks noGrp="1"/>
          </p:cNvSpPr>
          <p:nvPr/>
        </p:nvSpPr>
        <p:spPr>
          <a:xfrm>
            <a:off x="2514600" y="4400550"/>
            <a:ext cx="16954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4EC967-DD84-401A-B117-809244FE9BD8}"/>
              </a:ext>
            </a:extLst>
          </p:cNvPr>
          <p:cNvSpPr>
            <a:spLocks noGrp="1"/>
          </p:cNvSpPr>
          <p:nvPr/>
        </p:nvSpPr>
        <p:spPr>
          <a:xfrm>
            <a:off x="2667000" y="4552950"/>
            <a:ext cx="1352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B7C78"/>
                </a:solidFill>
                <a:latin typeface="Georgia"/>
                <a:ea typeface="Georgia"/>
                <a:cs typeface="Georgia"/>
              </a:defRPr>
            </a:pPr>
            <a:r>
              <a:rPr sz="1875" b="0" dirty="0">
                <a:solidFill>
                  <a:srgbClr val="1B7C78"/>
                </a:solidFill>
                <a:latin typeface="Georgia"/>
                <a:ea typeface="Georgia"/>
                <a:cs typeface="Georgia"/>
              </a:rPr>
              <a:t>React UI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7522D7-A431-4BB4-9BD2-BDA3BCF20AB2}"/>
              </a:ext>
            </a:extLst>
          </p:cNvPr>
          <p:cNvSpPr>
            <a:spLocks noGrp="1"/>
          </p:cNvSpPr>
          <p:nvPr/>
        </p:nvSpPr>
        <p:spPr>
          <a:xfrm>
            <a:off x="2667000" y="4943475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Frontend TypeScript me Vite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17E26D-00F6-4E16-B182-B323AC1A81E2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16954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A2EE3-72EE-4E8D-9450-A742D6FEE103}"/>
              </a:ext>
            </a:extLst>
          </p:cNvPr>
          <p:cNvSpPr>
            <a:spLocks noGrp="1"/>
          </p:cNvSpPr>
          <p:nvPr/>
        </p:nvSpPr>
        <p:spPr>
          <a:xfrm>
            <a:off x="4552950" y="4552950"/>
            <a:ext cx="1352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4D8F62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4D8F62"/>
                </a:solidFill>
                <a:latin typeface="Georgia"/>
                <a:ea typeface="Georgia"/>
                <a:cs typeface="Georgia"/>
              </a:rPr>
              <a:t>Biznes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8A4582-8BE9-48E8-9B7F-F82663364A09}"/>
              </a:ext>
            </a:extLst>
          </p:cNvPr>
          <p:cNvSpPr>
            <a:spLocks noGrp="1"/>
          </p:cNvSpPr>
          <p:nvPr/>
        </p:nvSpPr>
        <p:spPr>
          <a:xfrm>
            <a:off x="4552950" y="4943475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Më pak gabime, më shumë kontroll</a:t>
            </a:r>
          </a:p>
        </p:txBody>
      </p:sp>
    </p:spTree>
    <p:extLst>
      <p:ext uri="{BB962C8B-B14F-4D97-AF65-F5344CB8AC3E}">
        <p14:creationId xmlns:p14="http://schemas.microsoft.com/office/powerpoint/2010/main" val="79452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32212E-9260-46AE-A614-63E3EBF0FF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45CC2B-7EC3-47BB-893F-44EE817C6B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2-marker">
            <a:extLst>
              <a:ext uri="{FF2B5EF4-FFF2-40B4-BE49-F238E27FC236}">
                <a16:creationId xmlns:a16="http://schemas.microsoft.com/office/drawing/2014/main" id="{06195C40-DF69-4CDF-9C2A-073EA0D72A9F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186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1863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2-label">
            <a:extLst>
              <a:ext uri="{FF2B5EF4-FFF2-40B4-BE49-F238E27FC236}">
                <a16:creationId xmlns:a16="http://schemas.microsoft.com/office/drawing/2014/main" id="{A09911E8-9DB6-44C0-A4B3-E6D95E7567E2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PIKËPAMJA E BIZNESIT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3A471-544C-4C60-B500-1630B53067EB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Problemi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nuk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është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vetëm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teknik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: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biznesi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humb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kohë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, para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dhe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besueshmëri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kur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stoku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nuk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është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i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kontrolluar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91A53-A10E-4551-B7A0-402FE7F45E1B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0096500" cy="9525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AF5B12-83F6-4F05-929F-04099ED2CEBF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SMD - Sistem për Menaxhimin e Depos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54DC4E-FDA4-45C6-BECA-97F9FBAA4959}"/>
              </a:ext>
            </a:extLst>
          </p:cNvPr>
          <p:cNvSpPr>
            <a:spLocks noGrp="1"/>
          </p:cNvSpPr>
          <p:nvPr/>
        </p:nvSpPr>
        <p:spPr>
          <a:xfrm>
            <a:off x="10591800" y="64389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2/12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l="1961" r="1961"/>
          <a:stretch>
            <a:fillRect/>
          </a:stretch>
        </p:blipFill>
        <p:spPr>
          <a:xfrm>
            <a:off x="6934200" y="1790700"/>
            <a:ext cx="3733800" cy="25908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26407B3-071F-48EC-86DC-EF0BFC904E13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26860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2C5E83-781D-4BFB-A434-C33A7650DF8B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47625" cy="1276350"/>
          </a:xfrm>
          <a:prstGeom prst="rect">
            <a:avLst/>
          </a:prstGeom>
          <a:solidFill>
            <a:srgbClr val="B45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D4B45A-1A7A-45CE-9D9F-FE82A430EE90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Vendime me vonesë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DB106C-0190-478D-A93B-6D833EAE71F1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2362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Pa pamje të qartë të gjendjes, menaxheri nuk e di cilat produkte mungojnë, cilat po skadojnë dhe ku ndodhet stoku.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2A0E23-6620-4B2D-8394-3132BF59A18E}"/>
              </a:ext>
            </a:extLst>
          </p:cNvPr>
          <p:cNvSpPr>
            <a:spLocks noGrp="1"/>
          </p:cNvSpPr>
          <p:nvPr/>
        </p:nvSpPr>
        <p:spPr>
          <a:xfrm>
            <a:off x="3695700" y="1924050"/>
            <a:ext cx="26860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390368-DE5C-4BD5-832A-9E4F266F2110}"/>
              </a:ext>
            </a:extLst>
          </p:cNvPr>
          <p:cNvSpPr>
            <a:spLocks noGrp="1"/>
          </p:cNvSpPr>
          <p:nvPr/>
        </p:nvSpPr>
        <p:spPr>
          <a:xfrm>
            <a:off x="3695700" y="1924050"/>
            <a:ext cx="47625" cy="1276350"/>
          </a:xfrm>
          <a:prstGeom prst="rect">
            <a:avLst/>
          </a:prstGeom>
          <a:solidFill>
            <a:srgbClr val="C18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3AF105-A487-4CB0-8665-685535053FA3}"/>
              </a:ext>
            </a:extLst>
          </p:cNvPr>
          <p:cNvSpPr>
            <a:spLocks noGrp="1"/>
          </p:cNvSpPr>
          <p:nvPr/>
        </p:nvSpPr>
        <p:spPr>
          <a:xfrm>
            <a:off x="3867150" y="207645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 dirty="0" err="1">
                <a:solidFill>
                  <a:srgbClr val="10212B"/>
                </a:solidFill>
                <a:latin typeface="Aptos"/>
                <a:ea typeface="Aptos"/>
                <a:cs typeface="Aptos"/>
              </a:rPr>
              <a:t>Gabime</a:t>
            </a:r>
            <a:r>
              <a:rPr sz="1200" b="1" dirty="0">
                <a:solidFill>
                  <a:srgbClr val="10212B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200" b="1" dirty="0" err="1">
                <a:solidFill>
                  <a:srgbClr val="10212B"/>
                </a:solidFill>
                <a:latin typeface="Aptos"/>
                <a:ea typeface="Aptos"/>
                <a:cs typeface="Aptos"/>
              </a:rPr>
              <a:t>gjat</a:t>
            </a:r>
            <a:r>
              <a:rPr lang="sq-AL" sz="1200" b="1" dirty="0">
                <a:solidFill>
                  <a:srgbClr val="10212B"/>
                </a:solidFill>
                <a:latin typeface="Aptos"/>
                <a:ea typeface="Aptos"/>
                <a:cs typeface="Aptos"/>
              </a:rPr>
              <a:t>ë punës</a:t>
            </a:r>
            <a:endParaRPr sz="1200" b="1" dirty="0">
              <a:solidFill>
                <a:srgbClr val="10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E8FD55-83AC-4973-AFD2-6CB3C6905AC4}"/>
              </a:ext>
            </a:extLst>
          </p:cNvPr>
          <p:cNvSpPr>
            <a:spLocks noGrp="1"/>
          </p:cNvSpPr>
          <p:nvPr/>
        </p:nvSpPr>
        <p:spPr>
          <a:xfrm>
            <a:off x="3867150" y="2400300"/>
            <a:ext cx="2362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Punëtori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mund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të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zgjedhë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produktin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shportën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ose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sasinë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e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gabuar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kur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procesi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nuk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ka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validim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gjurmë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A727B-19C2-4339-BBCD-2F6D7B938968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26860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BCCE41-D421-4E91-B1CF-E28E8077509F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47625" cy="1276350"/>
          </a:xfrm>
          <a:prstGeom prst="rect">
            <a:avLst/>
          </a:prstGeom>
          <a:solidFill>
            <a:srgbClr val="3D6F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73D5EB-460B-456D-95A7-8608559BE2A6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Kosto financiare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A9DC9C-D1AB-490E-BB66-8CF486661F9E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2362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Porositë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kthimet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pagesat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me partner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ndikohen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drejtpërdrejt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nga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saktësia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e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dokumenteve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inventarit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0A7765-6285-44DC-8C2F-D21E01A55545}"/>
              </a:ext>
            </a:extLst>
          </p:cNvPr>
          <p:cNvSpPr>
            <a:spLocks noGrp="1"/>
          </p:cNvSpPr>
          <p:nvPr/>
        </p:nvSpPr>
        <p:spPr>
          <a:xfrm>
            <a:off x="3695700" y="3524250"/>
            <a:ext cx="26860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359436-B1F7-4354-978B-A733245807F8}"/>
              </a:ext>
            </a:extLst>
          </p:cNvPr>
          <p:cNvSpPr>
            <a:spLocks noGrp="1"/>
          </p:cNvSpPr>
          <p:nvPr/>
        </p:nvSpPr>
        <p:spPr>
          <a:xfrm>
            <a:off x="3695700" y="3524250"/>
            <a:ext cx="47625" cy="127635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864F41-F072-418C-B2FF-A2461FC3A05C}"/>
              </a:ext>
            </a:extLst>
          </p:cNvPr>
          <p:cNvSpPr>
            <a:spLocks noGrp="1"/>
          </p:cNvSpPr>
          <p:nvPr/>
        </p:nvSpPr>
        <p:spPr>
          <a:xfrm>
            <a:off x="3867150" y="367665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 dirty="0" err="1">
                <a:solidFill>
                  <a:srgbClr val="10212B"/>
                </a:solidFill>
                <a:latin typeface="Aptos"/>
                <a:ea typeface="Aptos"/>
                <a:cs typeface="Aptos"/>
              </a:rPr>
              <a:t>Kontroll</a:t>
            </a:r>
            <a:r>
              <a:rPr sz="1200" b="1" dirty="0">
                <a:solidFill>
                  <a:srgbClr val="10212B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menaxherial</a:t>
            </a:r>
            <a:endParaRPr sz="1200" b="1" dirty="0">
              <a:solidFill>
                <a:srgbClr val="10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E2EEC6-8E7D-40DF-8841-08BDBC943A7C}"/>
              </a:ext>
            </a:extLst>
          </p:cNvPr>
          <p:cNvSpPr>
            <a:spLocks noGrp="1"/>
          </p:cNvSpPr>
          <p:nvPr/>
        </p:nvSpPr>
        <p:spPr>
          <a:xfrm>
            <a:off x="3867150" y="4000500"/>
            <a:ext cx="23622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SMD e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kthen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lang="sq-AL"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punën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dito</a:t>
            </a:r>
            <a:r>
              <a:rPr lang="sq-AL"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re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në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të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dhëna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: </a:t>
            </a:r>
            <a:r>
              <a:rPr lang="sq-AL" sz="938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dashboard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audit logs,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alarme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raporte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eksporti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0509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8D08FAA-2F13-4B30-9037-E34FF38334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7EF459-62C6-4B14-9DAD-57FB3CD9EE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3-marker">
            <a:extLst>
              <a:ext uri="{FF2B5EF4-FFF2-40B4-BE49-F238E27FC236}">
                <a16:creationId xmlns:a16="http://schemas.microsoft.com/office/drawing/2014/main" id="{5935E477-C394-4DDF-95BB-5D52D89A13F8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186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1863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kicker-3-label">
            <a:extLst>
              <a:ext uri="{FF2B5EF4-FFF2-40B4-BE49-F238E27FC236}">
                <a16:creationId xmlns:a16="http://schemas.microsoft.com/office/drawing/2014/main" id="{3AD2DC41-120F-43CD-B4FC-24387484DE10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A"/>
                </a:solidFill>
                <a:latin typeface="Aptos"/>
                <a:ea typeface="Aptos"/>
                <a:cs typeface="Aptos"/>
              </a:rPr>
              <a:t>LEHTËSIMET PRAKTIKE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00B229-AC1E-46C5-B0EC-6542542C280D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Në punën e përditshme, SMD e zëvendëson kontrollin manual me hapa të qartë dhe të verifikueshëm.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575C91-0499-4666-B224-FEE2AD50C2A3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0096500" cy="9525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FE5545-5A87-4E8B-A0DB-D4A7802C5079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SMD - Sistem për Menaxhimin e Depos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E3D6CC-A5F2-494A-91B7-58173D1EA8F0}"/>
              </a:ext>
            </a:extLst>
          </p:cNvPr>
          <p:cNvSpPr>
            <a:spLocks noGrp="1"/>
          </p:cNvSpPr>
          <p:nvPr/>
        </p:nvSpPr>
        <p:spPr>
          <a:xfrm>
            <a:off x="10591800" y="64389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3/12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4BC89-D90F-4517-A0D6-CCE95E61E4F7}"/>
              </a:ext>
            </a:extLst>
          </p:cNvPr>
          <p:cNvSpPr>
            <a:spLocks noGrp="1"/>
          </p:cNvSpPr>
          <p:nvPr/>
        </p:nvSpPr>
        <p:spPr>
          <a:xfrm>
            <a:off x="723900" y="2209800"/>
            <a:ext cx="226695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52500" y="2457450"/>
            <a:ext cx="419100" cy="4191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8E1C82E-C678-4DD4-8FFB-2C0BCD2F3B23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Më pak kërkim fizik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2B1DB8-704C-4292-9F21-4FEA5B742EAF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lang="sq-AL" sz="975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D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ep</a:t>
            </a:r>
            <a:r>
              <a:rPr lang="en-US"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o</a:t>
            </a:r>
            <a:r>
              <a:rPr lang="sq-AL" sz="975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zon</a:t>
            </a:r>
            <a:r>
              <a:rPr lang="sq-AL"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a,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raft</a:t>
            </a:r>
            <a:r>
              <a:rPr lang="sq-AL"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i,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shport</a:t>
            </a:r>
            <a:r>
              <a:rPr lang="sq-AL"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a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tregojnë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ku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ndodhet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produkti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9D922C-2D96-40C1-9F35-588119BDA275}"/>
              </a:ext>
            </a:extLst>
          </p:cNvPr>
          <p:cNvSpPr>
            <a:spLocks noGrp="1"/>
          </p:cNvSpPr>
          <p:nvPr/>
        </p:nvSpPr>
        <p:spPr>
          <a:xfrm>
            <a:off x="3429000" y="2209800"/>
            <a:ext cx="226695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657600" y="2457450"/>
            <a:ext cx="419100" cy="4191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5603C4A-A25A-4F65-A1D2-B0091E93FC49}"/>
              </a:ext>
            </a:extLst>
          </p:cNvPr>
          <p:cNvSpPr>
            <a:spLocks noGrp="1"/>
          </p:cNvSpPr>
          <p:nvPr/>
        </p:nvSpPr>
        <p:spPr>
          <a:xfrm>
            <a:off x="3657600" y="31432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Më pak gabime në sasi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3C21C9-E723-4298-BB7C-832D20D1B464}"/>
              </a:ext>
            </a:extLst>
          </p:cNvPr>
          <p:cNvSpPr>
            <a:spLocks noGrp="1"/>
          </p:cNvSpPr>
          <p:nvPr/>
        </p:nvSpPr>
        <p:spPr>
          <a:xfrm>
            <a:off x="3657600" y="35623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lang="sq-AL"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Sasia në depo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lang="sq-AL"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Sasia e rezervuar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lang="sq-AL"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Sasia e disponueshme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ndahen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qartë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para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daljes</a:t>
            </a:r>
            <a:r>
              <a:rPr lang="sq-AL" sz="975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së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stokut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2B74D5-B3D5-4FFE-8F43-B236C0D9F426}"/>
              </a:ext>
            </a:extLst>
          </p:cNvPr>
          <p:cNvSpPr>
            <a:spLocks noGrp="1"/>
          </p:cNvSpPr>
          <p:nvPr/>
        </p:nvSpPr>
        <p:spPr>
          <a:xfrm>
            <a:off x="6134100" y="2209800"/>
            <a:ext cx="226695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Graphic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362700" y="2457450"/>
            <a:ext cx="419100" cy="4191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E8033FC-D66B-419E-89D7-783200B85083}"/>
              </a:ext>
            </a:extLst>
          </p:cNvPr>
          <p:cNvSpPr>
            <a:spLocks noGrp="1"/>
          </p:cNvSpPr>
          <p:nvPr/>
        </p:nvSpPr>
        <p:spPr>
          <a:xfrm>
            <a:off x="6362700" y="31432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Më shpejt pranim/dërgim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F7B336-41C6-4E07-80D4-F35509464B7D}"/>
              </a:ext>
            </a:extLst>
          </p:cNvPr>
          <p:cNvSpPr>
            <a:spLocks noGrp="1"/>
          </p:cNvSpPr>
          <p:nvPr/>
        </p:nvSpPr>
        <p:spPr>
          <a:xfrm>
            <a:off x="6362700" y="35623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Dokumentet Draft lejojnë përgatitje, kontroll dhe konfirmim në fund.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68032A-90FA-425D-A7A2-F498CEF7092C}"/>
              </a:ext>
            </a:extLst>
          </p:cNvPr>
          <p:cNvSpPr>
            <a:spLocks noGrp="1"/>
          </p:cNvSpPr>
          <p:nvPr/>
        </p:nvSpPr>
        <p:spPr>
          <a:xfrm>
            <a:off x="8839200" y="2209800"/>
            <a:ext cx="226695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067800" y="2457450"/>
            <a:ext cx="419100" cy="4191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89B7A94-4A61-47B6-AF07-4E4447224AAC}"/>
              </a:ext>
            </a:extLst>
          </p:cNvPr>
          <p:cNvSpPr>
            <a:spLocks noGrp="1"/>
          </p:cNvSpPr>
          <p:nvPr/>
        </p:nvSpPr>
        <p:spPr>
          <a:xfrm>
            <a:off x="9067800" y="31432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Më shumë përgjegjësi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18CC6A-9036-486E-8F91-E6F1F8FEC8CB}"/>
              </a:ext>
            </a:extLst>
          </p:cNvPr>
          <p:cNvSpPr>
            <a:spLocks noGrp="1"/>
          </p:cNvSpPr>
          <p:nvPr/>
        </p:nvSpPr>
        <p:spPr>
          <a:xfrm>
            <a:off x="9067800" y="356235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Çdo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veprim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kritik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ruhet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në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lang="sq-AL"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gjurmët për 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audit</a:t>
            </a:r>
            <a:r>
              <a:rPr lang="sq-AL"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im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me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përdorues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kohë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detaje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9AEF0E-B233-4CE0-A7D9-F08C74D80F36}"/>
              </a:ext>
            </a:extLst>
          </p:cNvPr>
          <p:cNvSpPr>
            <a:spLocks noGrp="1"/>
          </p:cNvSpPr>
          <p:nvPr/>
        </p:nvSpPr>
        <p:spPr>
          <a:xfrm>
            <a:off x="1600200" y="5124450"/>
            <a:ext cx="8191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Lehtësimi kryesor: sistemi e udhëheq përdoruesin në proces, ndërsa menaxheri sheh rezultatin në kohë reale.</a:t>
            </a:r>
          </a:p>
        </p:txBody>
      </p:sp>
    </p:spTree>
    <p:extLst>
      <p:ext uri="{BB962C8B-B14F-4D97-AF65-F5344CB8AC3E}">
        <p14:creationId xmlns:p14="http://schemas.microsoft.com/office/powerpoint/2010/main" val="1789313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14C9632-8F24-4C8D-B8CF-BB10F900BA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BF1F20-0230-485F-B97F-9F8BB1C80C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4-marker">
            <a:extLst>
              <a:ext uri="{FF2B5EF4-FFF2-40B4-BE49-F238E27FC236}">
                <a16:creationId xmlns:a16="http://schemas.microsoft.com/office/drawing/2014/main" id="{2B702BD7-0A7A-4910-BEF4-F31DD427494C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186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1863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kicker-4-label">
            <a:extLst>
              <a:ext uri="{FF2B5EF4-FFF2-40B4-BE49-F238E27FC236}">
                <a16:creationId xmlns:a16="http://schemas.microsoft.com/office/drawing/2014/main" id="{A7A558BD-E183-4A52-BCD6-712032670564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A"/>
                </a:solidFill>
                <a:latin typeface="Aptos"/>
                <a:ea typeface="Aptos"/>
                <a:cs typeface="Aptos"/>
              </a:rPr>
              <a:t>ZGJIDHJA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37550C-DCF6-461C-BD8E-EBB6507B853C}"/>
              </a:ext>
            </a:extLst>
          </p:cNvPr>
          <p:cNvSpPr>
            <a:spLocks noGrp="1"/>
          </p:cNvSpPr>
          <p:nvPr/>
        </p:nvSpPr>
        <p:spPr>
          <a:xfrm>
            <a:off x="533399" y="781050"/>
            <a:ext cx="10183761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SMD e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kthen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sq-AL"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depon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në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një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rrjedhë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të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kontrolluar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nga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dokumenti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deri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te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raporti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9ABAF9-94DD-46BD-8314-C4501C552394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0096500" cy="9525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2C2F3D-62D2-450A-B051-1533FFE5D7D9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SMD - Sistem për Menaxhimin e Depos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C708D1-2AB6-4641-9BB7-5FC754EA9CF5}"/>
              </a:ext>
            </a:extLst>
          </p:cNvPr>
          <p:cNvSpPr>
            <a:spLocks noGrp="1"/>
          </p:cNvSpPr>
          <p:nvPr/>
        </p:nvSpPr>
        <p:spPr>
          <a:xfrm>
            <a:off x="10591800" y="64389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4/12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3846E6-222A-4360-BAF1-2A1D1791DE8B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3050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33450" y="2419350"/>
            <a:ext cx="419100" cy="4191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11D2200-26FD-4E93-A2AF-A289656B7B54}"/>
              </a:ext>
            </a:extLst>
          </p:cNvPr>
          <p:cNvSpPr>
            <a:spLocks noGrp="1"/>
          </p:cNvSpPr>
          <p:nvPr/>
        </p:nvSpPr>
        <p:spPr>
          <a:xfrm>
            <a:off x="933450" y="3067050"/>
            <a:ext cx="17621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Master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0901AD-97D0-4171-84FD-9F3A94497BE6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17716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Depo, zona,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rafte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shporta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produkte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klientë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lang="sq-AL" sz="975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furnizues</a:t>
            </a:r>
            <a:endParaRPr sz="975" b="0" dirty="0">
              <a:solidFill>
                <a:srgbClr val="6571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18B0BB-7993-48CA-AB3D-466D0FC1C9F8}"/>
              </a:ext>
            </a:extLst>
          </p:cNvPr>
          <p:cNvSpPr>
            <a:spLocks noGrp="1"/>
          </p:cNvSpPr>
          <p:nvPr/>
        </p:nvSpPr>
        <p:spPr>
          <a:xfrm>
            <a:off x="3409950" y="2190750"/>
            <a:ext cx="23050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657600" y="2419350"/>
            <a:ext cx="419100" cy="4191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3E37948-5703-4688-ACF8-60883E8141BA}"/>
              </a:ext>
            </a:extLst>
          </p:cNvPr>
          <p:cNvSpPr>
            <a:spLocks noGrp="1"/>
          </p:cNvSpPr>
          <p:nvPr/>
        </p:nvSpPr>
        <p:spPr>
          <a:xfrm>
            <a:off x="3657600" y="3067050"/>
            <a:ext cx="17621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Operacione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5931D9-45B4-4FB8-8F02-CE1515E5DC20}"/>
              </a:ext>
            </a:extLst>
          </p:cNvPr>
          <p:cNvSpPr>
            <a:spLocks noGrp="1"/>
          </p:cNvSpPr>
          <p:nvPr/>
        </p:nvSpPr>
        <p:spPr>
          <a:xfrm>
            <a:off x="3657600" y="3467100"/>
            <a:ext cx="17716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lang="sq-AL"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Hyrëse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lang="sq-AL"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dalëse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porosi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kthime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lëvizje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stoku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lang="sq-AL" sz="975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automatiyim</a:t>
            </a:r>
            <a:endParaRPr sz="975" b="0" dirty="0">
              <a:solidFill>
                <a:srgbClr val="6571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3BB122-DA5F-47C1-B673-E2F66E8CD0A1}"/>
              </a:ext>
            </a:extLst>
          </p:cNvPr>
          <p:cNvSpPr>
            <a:spLocks noGrp="1"/>
          </p:cNvSpPr>
          <p:nvPr/>
        </p:nvSpPr>
        <p:spPr>
          <a:xfrm>
            <a:off x="6134100" y="2190750"/>
            <a:ext cx="23050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Graphic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381750" y="2419350"/>
            <a:ext cx="419100" cy="4191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9196C4E-3AE4-45BE-BF9E-8FA8905F05E2}"/>
              </a:ext>
            </a:extLst>
          </p:cNvPr>
          <p:cNvSpPr>
            <a:spLocks noGrp="1"/>
          </p:cNvSpPr>
          <p:nvPr/>
        </p:nvSpPr>
        <p:spPr>
          <a:xfrm>
            <a:off x="6381750" y="3067050"/>
            <a:ext cx="17621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Kontroll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CCF679-5CAC-451E-8D13-4682350A5109}"/>
              </a:ext>
            </a:extLst>
          </p:cNvPr>
          <p:cNvSpPr>
            <a:spLocks noGrp="1"/>
          </p:cNvSpPr>
          <p:nvPr/>
        </p:nvSpPr>
        <p:spPr>
          <a:xfrm>
            <a:off x="6381750" y="3467100"/>
            <a:ext cx="17716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JWT, role, </a:t>
            </a:r>
            <a:r>
              <a:rPr lang="sq-AL"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rregulla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audit</a:t>
            </a:r>
            <a:r>
              <a:rPr lang="sq-AL"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im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validime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token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22D8BC-282F-4BFD-AF0A-BADB8F032F62}"/>
              </a:ext>
            </a:extLst>
          </p:cNvPr>
          <p:cNvSpPr>
            <a:spLocks noGrp="1"/>
          </p:cNvSpPr>
          <p:nvPr/>
        </p:nvSpPr>
        <p:spPr>
          <a:xfrm>
            <a:off x="8858250" y="2190750"/>
            <a:ext cx="23050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105900" y="2419350"/>
            <a:ext cx="419100" cy="4191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D9DD8A1-5AD1-4E28-B908-6368058F4B5E}"/>
              </a:ext>
            </a:extLst>
          </p:cNvPr>
          <p:cNvSpPr>
            <a:spLocks noGrp="1"/>
          </p:cNvSpPr>
          <p:nvPr/>
        </p:nvSpPr>
        <p:spPr>
          <a:xfrm>
            <a:off x="9105900" y="3067050"/>
            <a:ext cx="17621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Analitikë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CF1A35-F090-42C2-8EC6-79B2BE689A07}"/>
              </a:ext>
            </a:extLst>
          </p:cNvPr>
          <p:cNvSpPr>
            <a:spLocks noGrp="1"/>
          </p:cNvSpPr>
          <p:nvPr/>
        </p:nvSpPr>
        <p:spPr>
          <a:xfrm>
            <a:off x="9105900" y="3467100"/>
            <a:ext cx="17716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Dashboard, alarme skadence, stok i ulët, financa partnerësh dhe eksporte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390E78-3240-4FED-BC3E-057CD8E36DB9}"/>
              </a:ext>
            </a:extLst>
          </p:cNvPr>
          <p:cNvSpPr>
            <a:spLocks noGrp="1"/>
          </p:cNvSpPr>
          <p:nvPr/>
        </p:nvSpPr>
        <p:spPr>
          <a:xfrm>
            <a:off x="1066800" y="4857750"/>
            <a:ext cx="9429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Rezultati: një aplikacion i vetëm ku përdoruesit krijojnë dokumente, sistemi kontrollon sasitë, dhe menaxhmenti sheh gjendjen operative.</a:t>
            </a:r>
          </a:p>
        </p:txBody>
      </p:sp>
    </p:spTree>
    <p:extLst>
      <p:ext uri="{BB962C8B-B14F-4D97-AF65-F5344CB8AC3E}">
        <p14:creationId xmlns:p14="http://schemas.microsoft.com/office/powerpoint/2010/main" val="647614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039256CE-1C99-49CA-B590-225284545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3FEE42-E7C0-43FA-A83A-AD9C26C2BC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5-marker">
            <a:extLst>
              <a:ext uri="{FF2B5EF4-FFF2-40B4-BE49-F238E27FC236}">
                <a16:creationId xmlns:a16="http://schemas.microsoft.com/office/drawing/2014/main" id="{9E040610-9AE9-4BE7-8514-CC35A4EE3C6A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186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1863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kicker-5-label">
            <a:extLst>
              <a:ext uri="{FF2B5EF4-FFF2-40B4-BE49-F238E27FC236}">
                <a16:creationId xmlns:a16="http://schemas.microsoft.com/office/drawing/2014/main" id="{BE27ED41-8F77-4D00-8BB3-CB84DB4BCCD2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A"/>
                </a:solidFill>
                <a:latin typeface="Aptos"/>
                <a:ea typeface="Aptos"/>
                <a:cs typeface="Aptos"/>
              </a:rPr>
              <a:t>ARKITEKTURA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30E502-7951-4FA1-851F-C43129D73312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Arkitektura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është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ndarë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në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shtresa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për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UI, API,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logjikë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biznesi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, domain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dhe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sq-AL"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vendimarrje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19C774-C08F-4F58-9F03-DAFFB39FEE72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0096500" cy="9525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6FCBC2-1F99-4CA1-9507-C550904EDB3A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SMD - Sistem për Menaxhimin e Depos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90594A-705B-4D91-ABDD-306F0DDD1627}"/>
              </a:ext>
            </a:extLst>
          </p:cNvPr>
          <p:cNvSpPr>
            <a:spLocks noGrp="1"/>
          </p:cNvSpPr>
          <p:nvPr/>
        </p:nvSpPr>
        <p:spPr>
          <a:xfrm>
            <a:off x="10591800" y="64389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5/12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57258B-3672-4B26-834C-82F9B2316EC6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16573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3B448C-02A7-45F7-AFBE-AF08795F23FA}"/>
              </a:ext>
            </a:extLst>
          </p:cNvPr>
          <p:cNvSpPr>
            <a:spLocks noGrp="1"/>
          </p:cNvSpPr>
          <p:nvPr/>
        </p:nvSpPr>
        <p:spPr>
          <a:xfrm>
            <a:off x="1028700" y="28384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React + Vite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5FFC11-2516-4064-A3A7-FD4A2907462B}"/>
              </a:ext>
            </a:extLst>
          </p:cNvPr>
          <p:cNvSpPr>
            <a:spLocks noGrp="1"/>
          </p:cNvSpPr>
          <p:nvPr/>
        </p:nvSpPr>
        <p:spPr>
          <a:xfrm>
            <a:off x="1028700" y="3181350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Faqet, routet, shërbimet HTTP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AA4440-8556-4515-AA81-C2399C9EADF0}"/>
              </a:ext>
            </a:extLst>
          </p:cNvPr>
          <p:cNvSpPr>
            <a:spLocks noGrp="1"/>
          </p:cNvSpPr>
          <p:nvPr/>
        </p:nvSpPr>
        <p:spPr>
          <a:xfrm>
            <a:off x="2571750" y="3209925"/>
            <a:ext cx="514350" cy="19050"/>
          </a:xfrm>
          <a:prstGeom prst="rect">
            <a:avLst/>
          </a:prstGeom>
          <a:solidFill>
            <a:srgbClr val="C18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306D1763-70E6-4442-A05D-9983F043B705}"/>
              </a:ext>
            </a:extLst>
          </p:cNvPr>
          <p:cNvSpPr>
            <a:spLocks noGrp="1"/>
          </p:cNvSpPr>
          <p:nvPr/>
        </p:nvSpPr>
        <p:spPr>
          <a:xfrm>
            <a:off x="3019425" y="3162300"/>
            <a:ext cx="95250" cy="95250"/>
          </a:xfrm>
          <a:prstGeom prst="rtTriangle">
            <a:avLst/>
          </a:prstGeom>
          <a:solidFill>
            <a:srgbClr val="C18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09E149-F417-468E-9553-83E03A9036F3}"/>
              </a:ext>
            </a:extLst>
          </p:cNvPr>
          <p:cNvSpPr>
            <a:spLocks noGrp="1"/>
          </p:cNvSpPr>
          <p:nvPr/>
        </p:nvSpPr>
        <p:spPr>
          <a:xfrm>
            <a:off x="3162300" y="2571750"/>
            <a:ext cx="16573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B606DB-CED6-46B2-98AD-AF6B1BC9271F}"/>
              </a:ext>
            </a:extLst>
          </p:cNvPr>
          <p:cNvSpPr>
            <a:spLocks noGrp="1"/>
          </p:cNvSpPr>
          <p:nvPr/>
        </p:nvSpPr>
        <p:spPr>
          <a:xfrm>
            <a:off x="3314700" y="28384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ASP.NET API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1871E7-3C2B-49D4-877D-A6786B1FE9D8}"/>
              </a:ext>
            </a:extLst>
          </p:cNvPr>
          <p:cNvSpPr>
            <a:spLocks noGrp="1"/>
          </p:cNvSpPr>
          <p:nvPr/>
        </p:nvSpPr>
        <p:spPr>
          <a:xfrm>
            <a:off x="3314700" y="3181350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Controllers, JWT, policies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AA569D-6B16-4AC4-84D1-10DBD477A353}"/>
              </a:ext>
            </a:extLst>
          </p:cNvPr>
          <p:cNvSpPr>
            <a:spLocks noGrp="1"/>
          </p:cNvSpPr>
          <p:nvPr/>
        </p:nvSpPr>
        <p:spPr>
          <a:xfrm>
            <a:off x="4857750" y="3209925"/>
            <a:ext cx="514350" cy="19050"/>
          </a:xfrm>
          <a:prstGeom prst="rect">
            <a:avLst/>
          </a:prstGeom>
          <a:solidFill>
            <a:srgbClr val="C18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ED9D27C3-3181-4D58-9EBF-140A70B45455}"/>
              </a:ext>
            </a:extLst>
          </p:cNvPr>
          <p:cNvSpPr>
            <a:spLocks noGrp="1"/>
          </p:cNvSpPr>
          <p:nvPr/>
        </p:nvSpPr>
        <p:spPr>
          <a:xfrm>
            <a:off x="5305425" y="3162300"/>
            <a:ext cx="95250" cy="95250"/>
          </a:xfrm>
          <a:prstGeom prst="rtTriangle">
            <a:avLst/>
          </a:prstGeom>
          <a:solidFill>
            <a:srgbClr val="C18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E94FE6-2052-467A-B988-C508D8C99150}"/>
              </a:ext>
            </a:extLst>
          </p:cNvPr>
          <p:cNvSpPr>
            <a:spLocks noGrp="1"/>
          </p:cNvSpPr>
          <p:nvPr/>
        </p:nvSpPr>
        <p:spPr>
          <a:xfrm>
            <a:off x="5448300" y="2571750"/>
            <a:ext cx="16573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28AA4-2406-474A-B9AC-C9C065E5250B}"/>
              </a:ext>
            </a:extLst>
          </p:cNvPr>
          <p:cNvSpPr>
            <a:spLocks noGrp="1"/>
          </p:cNvSpPr>
          <p:nvPr/>
        </p:nvSpPr>
        <p:spPr>
          <a:xfrm>
            <a:off x="5600700" y="28384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E41AE2-30FE-4942-B26A-1968D8DE3AA0}"/>
              </a:ext>
            </a:extLst>
          </p:cNvPr>
          <p:cNvSpPr>
            <a:spLocks noGrp="1"/>
          </p:cNvSpPr>
          <p:nvPr/>
        </p:nvSpPr>
        <p:spPr>
          <a:xfrm>
            <a:off x="5600700" y="3181350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DTO, contracts, service interfaces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BFD16C-2C31-47FB-BE69-007920BEE9B1}"/>
              </a:ext>
            </a:extLst>
          </p:cNvPr>
          <p:cNvSpPr>
            <a:spLocks noGrp="1"/>
          </p:cNvSpPr>
          <p:nvPr/>
        </p:nvSpPr>
        <p:spPr>
          <a:xfrm>
            <a:off x="7143750" y="3209925"/>
            <a:ext cx="514350" cy="19050"/>
          </a:xfrm>
          <a:prstGeom prst="rect">
            <a:avLst/>
          </a:prstGeom>
          <a:solidFill>
            <a:srgbClr val="C18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DFAB0FDB-40D6-4569-99EE-3A83C5E73D1E}"/>
              </a:ext>
            </a:extLst>
          </p:cNvPr>
          <p:cNvSpPr>
            <a:spLocks noGrp="1"/>
          </p:cNvSpPr>
          <p:nvPr/>
        </p:nvSpPr>
        <p:spPr>
          <a:xfrm>
            <a:off x="7591425" y="3162300"/>
            <a:ext cx="95250" cy="95250"/>
          </a:xfrm>
          <a:prstGeom prst="rtTriangle">
            <a:avLst/>
          </a:prstGeom>
          <a:solidFill>
            <a:srgbClr val="C18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C21E1F-F7E9-42F8-BD07-2171A9A76B6E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16573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88A8D9-026D-41F0-AE86-B2B15E7CF834}"/>
              </a:ext>
            </a:extLst>
          </p:cNvPr>
          <p:cNvSpPr>
            <a:spLocks noGrp="1"/>
          </p:cNvSpPr>
          <p:nvPr/>
        </p:nvSpPr>
        <p:spPr>
          <a:xfrm>
            <a:off x="7886700" y="28384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D29909-DC58-40F7-A7E4-E388A3BDEA68}"/>
              </a:ext>
            </a:extLst>
          </p:cNvPr>
          <p:cNvSpPr>
            <a:spLocks noGrp="1"/>
          </p:cNvSpPr>
          <p:nvPr/>
        </p:nvSpPr>
        <p:spPr>
          <a:xfrm>
            <a:off x="7886700" y="3181350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Entities, </a:t>
            </a:r>
            <a:r>
              <a:rPr sz="90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enums</a:t>
            </a: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lang="sq-AL" sz="90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rules</a:t>
            </a:r>
            <a:endParaRPr sz="900" b="0" dirty="0">
              <a:solidFill>
                <a:srgbClr val="6571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3EF949-3E8B-4B69-B520-C142142A4209}"/>
              </a:ext>
            </a:extLst>
          </p:cNvPr>
          <p:cNvSpPr>
            <a:spLocks noGrp="1"/>
          </p:cNvSpPr>
          <p:nvPr/>
        </p:nvSpPr>
        <p:spPr>
          <a:xfrm>
            <a:off x="9429750" y="3209925"/>
            <a:ext cx="514350" cy="19050"/>
          </a:xfrm>
          <a:prstGeom prst="rect">
            <a:avLst/>
          </a:prstGeom>
          <a:solidFill>
            <a:srgbClr val="C18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DF5EAEBD-21EC-49BB-9F97-0AEC502F2086}"/>
              </a:ext>
            </a:extLst>
          </p:cNvPr>
          <p:cNvSpPr>
            <a:spLocks noGrp="1"/>
          </p:cNvSpPr>
          <p:nvPr/>
        </p:nvSpPr>
        <p:spPr>
          <a:xfrm>
            <a:off x="9877425" y="3162300"/>
            <a:ext cx="95250" cy="95250"/>
          </a:xfrm>
          <a:prstGeom prst="rtTriangle">
            <a:avLst/>
          </a:prstGeom>
          <a:solidFill>
            <a:srgbClr val="C18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6BB1E7-53A5-4E60-9F12-6821A64260BD}"/>
              </a:ext>
            </a:extLst>
          </p:cNvPr>
          <p:cNvSpPr>
            <a:spLocks noGrp="1"/>
          </p:cNvSpPr>
          <p:nvPr/>
        </p:nvSpPr>
        <p:spPr>
          <a:xfrm>
            <a:off x="10020300" y="2571750"/>
            <a:ext cx="165735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CEBB88-DE48-4ACE-A990-AB991E6D84E1}"/>
              </a:ext>
            </a:extLst>
          </p:cNvPr>
          <p:cNvSpPr>
            <a:spLocks noGrp="1"/>
          </p:cNvSpPr>
          <p:nvPr/>
        </p:nvSpPr>
        <p:spPr>
          <a:xfrm>
            <a:off x="10172700" y="28384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47361B-256A-4CDF-A1A8-BB3060652C2B}"/>
              </a:ext>
            </a:extLst>
          </p:cNvPr>
          <p:cNvSpPr>
            <a:spLocks noGrp="1"/>
          </p:cNvSpPr>
          <p:nvPr/>
        </p:nvSpPr>
        <p:spPr>
          <a:xfrm>
            <a:off x="10172700" y="3181350"/>
            <a:ext cx="13525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EF Core, SQL Server, services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519FFB-A9B2-48D3-8EF1-D456B9F290B0}"/>
              </a:ext>
            </a:extLst>
          </p:cNvPr>
          <p:cNvSpPr>
            <a:spLocks noGrp="1"/>
          </p:cNvSpPr>
          <p:nvPr/>
        </p:nvSpPr>
        <p:spPr>
          <a:xfrm>
            <a:off x="1676400" y="4514850"/>
            <a:ext cx="1714500" cy="32385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96E12D-C60D-4D61-808B-A9B4FE722D32}"/>
              </a:ext>
            </a:extLst>
          </p:cNvPr>
          <p:cNvSpPr>
            <a:spLocks noGrp="1"/>
          </p:cNvSpPr>
          <p:nvPr/>
        </p:nvSpPr>
        <p:spPr>
          <a:xfrm>
            <a:off x="1790700" y="4600575"/>
            <a:ext cx="1485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Autentikim JWT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96C2B87-383A-4CF9-AC2F-683959D1645D}"/>
              </a:ext>
            </a:extLst>
          </p:cNvPr>
          <p:cNvSpPr>
            <a:spLocks noGrp="1"/>
          </p:cNvSpPr>
          <p:nvPr/>
        </p:nvSpPr>
        <p:spPr>
          <a:xfrm>
            <a:off x="3752850" y="4514850"/>
            <a:ext cx="2095500" cy="32385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7D9228-64A0-4489-9F73-29120DB66052}"/>
              </a:ext>
            </a:extLst>
          </p:cNvPr>
          <p:cNvSpPr>
            <a:spLocks noGrp="1"/>
          </p:cNvSpPr>
          <p:nvPr/>
        </p:nvSpPr>
        <p:spPr>
          <a:xfrm>
            <a:off x="3867150" y="4600575"/>
            <a:ext cx="1866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Authorization policies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74C7F8-C331-49D7-840F-6242CF9E5BDB}"/>
              </a:ext>
            </a:extLst>
          </p:cNvPr>
          <p:cNvSpPr>
            <a:spLocks noGrp="1"/>
          </p:cNvSpPr>
          <p:nvPr/>
        </p:nvSpPr>
        <p:spPr>
          <a:xfrm>
            <a:off x="6210300" y="4514850"/>
            <a:ext cx="2095500" cy="32385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AC69E1-6702-4305-BAB8-31225A27F0EF}"/>
              </a:ext>
            </a:extLst>
          </p:cNvPr>
          <p:cNvSpPr>
            <a:spLocks noGrp="1"/>
          </p:cNvSpPr>
          <p:nvPr/>
        </p:nvSpPr>
        <p:spPr>
          <a:xfrm>
            <a:off x="6324600" y="4600575"/>
            <a:ext cx="1866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Entity Framework Core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29BF23-EEC3-4BCF-8384-E5EA98F450F7}"/>
              </a:ext>
            </a:extLst>
          </p:cNvPr>
          <p:cNvSpPr>
            <a:spLocks noGrp="1"/>
          </p:cNvSpPr>
          <p:nvPr/>
        </p:nvSpPr>
        <p:spPr>
          <a:xfrm>
            <a:off x="8667750" y="4514850"/>
            <a:ext cx="1409700" cy="32385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730F287-7DF0-47B1-A3EF-6CBCACF6B487}"/>
              </a:ext>
            </a:extLst>
          </p:cNvPr>
          <p:cNvSpPr>
            <a:spLocks noGrp="1"/>
          </p:cNvSpPr>
          <p:nvPr/>
        </p:nvSpPr>
        <p:spPr>
          <a:xfrm>
            <a:off x="8782050" y="4600575"/>
            <a:ext cx="11811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SQL Server</a:t>
            </a:r>
          </a:p>
        </p:txBody>
      </p:sp>
    </p:spTree>
    <p:extLst>
      <p:ext uri="{BB962C8B-B14F-4D97-AF65-F5344CB8AC3E}">
        <p14:creationId xmlns:p14="http://schemas.microsoft.com/office/powerpoint/2010/main" val="917063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46F0296-BA8B-4BE0-91B9-F08604E86A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5E6B96-C439-4C87-AC18-43235ABEA0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6-marker">
            <a:extLst>
              <a:ext uri="{FF2B5EF4-FFF2-40B4-BE49-F238E27FC236}">
                <a16:creationId xmlns:a16="http://schemas.microsoft.com/office/drawing/2014/main" id="{71875664-F917-4D76-B353-4A9718EDE279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186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1863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kicker-6-label">
            <a:extLst>
              <a:ext uri="{FF2B5EF4-FFF2-40B4-BE49-F238E27FC236}">
                <a16:creationId xmlns:a16="http://schemas.microsoft.com/office/drawing/2014/main" id="{E57BFFF7-7EA3-46EF-9C53-204227D2B76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A"/>
                </a:solidFill>
                <a:latin typeface="Aptos"/>
                <a:ea typeface="Aptos"/>
                <a:cs typeface="Aptos"/>
              </a:rPr>
              <a:t>MODELI I TË DHËNAVE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2E5092-2972-4AD3-8898-8921726EB8C0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Baza e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të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dhënave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modelon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hierarkinë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fizike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të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depos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dhe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dokumentet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që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ndryshojnë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2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stokun</a:t>
            </a:r>
            <a:r>
              <a:rPr sz="22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CF1F84-F83B-4311-87CF-D6CC8F71EC0D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0096500" cy="9525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D7364-5B78-4688-8E0D-D2EBD075EBC9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SMD - Sistem për Menaxhimin e Depos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0A5513-E7D7-4C26-A7C6-849BD2C91950}"/>
              </a:ext>
            </a:extLst>
          </p:cNvPr>
          <p:cNvSpPr>
            <a:spLocks noGrp="1"/>
          </p:cNvSpPr>
          <p:nvPr/>
        </p:nvSpPr>
        <p:spPr>
          <a:xfrm>
            <a:off x="10591800" y="64389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6/12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58F4FD-367A-4815-BEB5-0DFBB167A215}"/>
              </a:ext>
            </a:extLst>
          </p:cNvPr>
          <p:cNvSpPr>
            <a:spLocks noGrp="1"/>
          </p:cNvSpPr>
          <p:nvPr/>
        </p:nvSpPr>
        <p:spPr>
          <a:xfrm>
            <a:off x="876300" y="2152650"/>
            <a:ext cx="14097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C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C0E60-A067-4EE0-BDA8-18F44AD77E54}"/>
              </a:ext>
            </a:extLst>
          </p:cNvPr>
          <p:cNvSpPr>
            <a:spLocks noGrp="1"/>
          </p:cNvSpPr>
          <p:nvPr/>
        </p:nvSpPr>
        <p:spPr>
          <a:xfrm>
            <a:off x="990600" y="2371725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B7C78"/>
                </a:solidFill>
                <a:latin typeface="Aptos"/>
                <a:ea typeface="Aptos"/>
                <a:cs typeface="Aptos"/>
              </a:defRPr>
            </a:pPr>
            <a:r>
              <a:rPr lang="sq-AL" sz="1200" b="1" dirty="0">
                <a:solidFill>
                  <a:srgbClr val="1B7C78"/>
                </a:solidFill>
                <a:latin typeface="Aptos"/>
                <a:ea typeface="Aptos"/>
                <a:cs typeface="Aptos"/>
              </a:rPr>
              <a:t>Depo</a:t>
            </a:r>
            <a:endParaRPr sz="1200" b="1" dirty="0">
              <a:solidFill>
                <a:srgbClr val="1B7C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0F77EE-ACFA-402F-93A8-203C30D454EC}"/>
              </a:ext>
            </a:extLst>
          </p:cNvPr>
          <p:cNvSpPr>
            <a:spLocks noGrp="1"/>
          </p:cNvSpPr>
          <p:nvPr/>
        </p:nvSpPr>
        <p:spPr>
          <a:xfrm>
            <a:off x="2686050" y="2152650"/>
            <a:ext cx="14097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C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3A17F1-6E1D-4E81-9010-E2B9744AFBA1}"/>
              </a:ext>
            </a:extLst>
          </p:cNvPr>
          <p:cNvSpPr>
            <a:spLocks noGrp="1"/>
          </p:cNvSpPr>
          <p:nvPr/>
        </p:nvSpPr>
        <p:spPr>
          <a:xfrm>
            <a:off x="2800350" y="2371725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B7C78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B7C78"/>
                </a:solidFill>
                <a:latin typeface="Aptos"/>
                <a:ea typeface="Aptos"/>
                <a:cs typeface="Aptos"/>
              </a:rPr>
              <a:t>Zon</a:t>
            </a:r>
            <a:r>
              <a:rPr lang="sq-AL" sz="1200" b="1" dirty="0">
                <a:solidFill>
                  <a:srgbClr val="1B7C78"/>
                </a:solidFill>
                <a:latin typeface="Aptos"/>
                <a:ea typeface="Aptos"/>
                <a:cs typeface="Aptos"/>
              </a:rPr>
              <a:t>a</a:t>
            </a:r>
            <a:endParaRPr sz="1200" b="1" dirty="0">
              <a:solidFill>
                <a:srgbClr val="1B7C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6F0FDA-B7E3-42C6-B746-BDC103A6984D}"/>
              </a:ext>
            </a:extLst>
          </p:cNvPr>
          <p:cNvSpPr>
            <a:spLocks noGrp="1"/>
          </p:cNvSpPr>
          <p:nvPr/>
        </p:nvSpPr>
        <p:spPr>
          <a:xfrm>
            <a:off x="4495800" y="2152650"/>
            <a:ext cx="14097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C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2BA109-2A6E-40FD-9278-04B35C1952A8}"/>
              </a:ext>
            </a:extLst>
          </p:cNvPr>
          <p:cNvSpPr>
            <a:spLocks noGrp="1"/>
          </p:cNvSpPr>
          <p:nvPr/>
        </p:nvSpPr>
        <p:spPr>
          <a:xfrm>
            <a:off x="4610100" y="2371725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B7C78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B7C78"/>
                </a:solidFill>
                <a:latin typeface="Aptos"/>
                <a:ea typeface="Aptos"/>
                <a:cs typeface="Aptos"/>
              </a:rPr>
              <a:t>Ra</a:t>
            </a:r>
            <a:r>
              <a:rPr lang="sq-AL" sz="1200" b="1" dirty="0">
                <a:solidFill>
                  <a:srgbClr val="1B7C78"/>
                </a:solidFill>
                <a:latin typeface="Aptos"/>
                <a:ea typeface="Aptos"/>
                <a:cs typeface="Aptos"/>
              </a:rPr>
              <a:t>fti</a:t>
            </a:r>
            <a:endParaRPr sz="1200" b="1" dirty="0">
              <a:solidFill>
                <a:srgbClr val="1B7C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171B9F-161B-4E81-9D33-7F16D6CBE077}"/>
              </a:ext>
            </a:extLst>
          </p:cNvPr>
          <p:cNvSpPr>
            <a:spLocks noGrp="1"/>
          </p:cNvSpPr>
          <p:nvPr/>
        </p:nvSpPr>
        <p:spPr>
          <a:xfrm>
            <a:off x="6305550" y="2152650"/>
            <a:ext cx="14097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C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E3F534-1CA1-4D97-98FA-1A2A19991D20}"/>
              </a:ext>
            </a:extLst>
          </p:cNvPr>
          <p:cNvSpPr>
            <a:spLocks noGrp="1"/>
          </p:cNvSpPr>
          <p:nvPr/>
        </p:nvSpPr>
        <p:spPr>
          <a:xfrm>
            <a:off x="6419850" y="2371725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B7C78"/>
                </a:solidFill>
                <a:latin typeface="Aptos"/>
                <a:ea typeface="Aptos"/>
                <a:cs typeface="Aptos"/>
              </a:defRPr>
            </a:pPr>
            <a:r>
              <a:rPr lang="sq-AL" sz="1200" b="1" dirty="0">
                <a:solidFill>
                  <a:srgbClr val="1B7C78"/>
                </a:solidFill>
                <a:latin typeface="Aptos"/>
                <a:ea typeface="Aptos"/>
                <a:cs typeface="Aptos"/>
              </a:rPr>
              <a:t>Shporta</a:t>
            </a:r>
            <a:endParaRPr sz="1200" b="1" dirty="0">
              <a:solidFill>
                <a:srgbClr val="1B7C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93A2FA-C651-4904-806A-BA066F084AF5}"/>
              </a:ext>
            </a:extLst>
          </p:cNvPr>
          <p:cNvSpPr>
            <a:spLocks noGrp="1"/>
          </p:cNvSpPr>
          <p:nvPr/>
        </p:nvSpPr>
        <p:spPr>
          <a:xfrm>
            <a:off x="876300" y="4019550"/>
            <a:ext cx="14097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C18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6DB14A-0C25-41DD-8E01-5218D6DD94DD}"/>
              </a:ext>
            </a:extLst>
          </p:cNvPr>
          <p:cNvSpPr>
            <a:spLocks noGrp="1"/>
          </p:cNvSpPr>
          <p:nvPr/>
        </p:nvSpPr>
        <p:spPr>
          <a:xfrm>
            <a:off x="990600" y="4238625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C1863A"/>
                </a:solidFill>
                <a:latin typeface="Aptos"/>
                <a:ea typeface="Aptos"/>
                <a:cs typeface="Aptos"/>
              </a:defRPr>
            </a:pPr>
            <a:r>
              <a:rPr lang="sq-AL" sz="1200" b="1" dirty="0">
                <a:solidFill>
                  <a:srgbClr val="C1863A"/>
                </a:solidFill>
                <a:latin typeface="Aptos"/>
                <a:ea typeface="Aptos"/>
                <a:cs typeface="Aptos"/>
              </a:rPr>
              <a:t>Produkti</a:t>
            </a:r>
            <a:endParaRPr sz="1200" b="1" dirty="0">
              <a:solidFill>
                <a:srgbClr val="C186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ACC761-EED7-4182-98E5-019374FF39BB}"/>
              </a:ext>
            </a:extLst>
          </p:cNvPr>
          <p:cNvSpPr>
            <a:spLocks noGrp="1"/>
          </p:cNvSpPr>
          <p:nvPr/>
        </p:nvSpPr>
        <p:spPr>
          <a:xfrm>
            <a:off x="3371850" y="4019550"/>
            <a:ext cx="14097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6F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62BEE8-D2F2-4219-B5E1-049C6A98EFD5}"/>
              </a:ext>
            </a:extLst>
          </p:cNvPr>
          <p:cNvSpPr>
            <a:spLocks noGrp="1"/>
          </p:cNvSpPr>
          <p:nvPr/>
        </p:nvSpPr>
        <p:spPr>
          <a:xfrm>
            <a:off x="3486150" y="4238625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3D6F91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3D6F91"/>
                </a:solidFill>
                <a:latin typeface="Aptos"/>
                <a:ea typeface="Aptos"/>
                <a:cs typeface="Aptos"/>
              </a:rPr>
              <a:t>Inventor</a:t>
            </a:r>
            <a:r>
              <a:rPr lang="sq-AL" sz="1200" b="1" dirty="0">
                <a:solidFill>
                  <a:srgbClr val="3D6F91"/>
                </a:solidFill>
                <a:latin typeface="Aptos"/>
                <a:ea typeface="Aptos"/>
                <a:cs typeface="Aptos"/>
              </a:rPr>
              <a:t>i</a:t>
            </a:r>
            <a:endParaRPr sz="1200" b="1" dirty="0">
              <a:solidFill>
                <a:srgbClr val="3D6F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B3A7C1-E477-40F4-9302-75302690CFDE}"/>
              </a:ext>
            </a:extLst>
          </p:cNvPr>
          <p:cNvSpPr>
            <a:spLocks noGrp="1"/>
          </p:cNvSpPr>
          <p:nvPr/>
        </p:nvSpPr>
        <p:spPr>
          <a:xfrm>
            <a:off x="6096000" y="4019550"/>
            <a:ext cx="14097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4D8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277206-3B06-4838-9EC1-C9E5E73F9F6F}"/>
              </a:ext>
            </a:extLst>
          </p:cNvPr>
          <p:cNvSpPr>
            <a:spLocks noGrp="1"/>
          </p:cNvSpPr>
          <p:nvPr/>
        </p:nvSpPr>
        <p:spPr>
          <a:xfrm>
            <a:off x="6210300" y="4238625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D8F62"/>
                </a:solidFill>
                <a:latin typeface="Aptos"/>
                <a:ea typeface="Aptos"/>
                <a:cs typeface="Aptos"/>
              </a:defRPr>
            </a:pPr>
            <a:r>
              <a:rPr lang="sq-AL" sz="1200" b="1" dirty="0">
                <a:solidFill>
                  <a:srgbClr val="4D8F62"/>
                </a:solidFill>
                <a:latin typeface="Aptos"/>
                <a:ea typeface="Aptos"/>
                <a:cs typeface="Aptos"/>
              </a:rPr>
              <a:t>Lëvizja në depo</a:t>
            </a:r>
            <a:endParaRPr sz="1200" b="1" dirty="0">
              <a:solidFill>
                <a:srgbClr val="4D8F6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D04808-621B-4C03-85B5-DF90D1E1D052}"/>
              </a:ext>
            </a:extLst>
          </p:cNvPr>
          <p:cNvSpPr>
            <a:spLocks noGrp="1"/>
          </p:cNvSpPr>
          <p:nvPr/>
        </p:nvSpPr>
        <p:spPr>
          <a:xfrm>
            <a:off x="8858250" y="4019550"/>
            <a:ext cx="14097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4A1056-992E-4232-BDA6-758ADEEFCAD4}"/>
              </a:ext>
            </a:extLst>
          </p:cNvPr>
          <p:cNvSpPr>
            <a:spLocks noGrp="1"/>
          </p:cNvSpPr>
          <p:nvPr/>
        </p:nvSpPr>
        <p:spPr>
          <a:xfrm>
            <a:off x="8972550" y="4238625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B4514A"/>
                </a:solidFill>
                <a:latin typeface="Aptos"/>
                <a:ea typeface="Aptos"/>
                <a:cs typeface="Aptos"/>
              </a:defRPr>
            </a:pPr>
            <a:r>
              <a:rPr lang="sq-AL" sz="1200" b="1" dirty="0">
                <a:solidFill>
                  <a:srgbClr val="B4514A"/>
                </a:solidFill>
                <a:latin typeface="Aptos"/>
                <a:ea typeface="Aptos"/>
                <a:cs typeface="Aptos"/>
              </a:rPr>
              <a:t>Auditimi</a:t>
            </a:r>
            <a:endParaRPr sz="1200" b="1" dirty="0">
              <a:solidFill>
                <a:srgbClr val="B451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9F1802-39D3-40AE-BDDB-098674DBD119}"/>
              </a:ext>
            </a:extLst>
          </p:cNvPr>
          <p:cNvSpPr>
            <a:spLocks noGrp="1"/>
          </p:cNvSpPr>
          <p:nvPr/>
        </p:nvSpPr>
        <p:spPr>
          <a:xfrm>
            <a:off x="2286000" y="2476500"/>
            <a:ext cx="381000" cy="19050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7C0E36FB-0AAB-4754-B455-B8F0A0A28259}"/>
              </a:ext>
            </a:extLst>
          </p:cNvPr>
          <p:cNvSpPr>
            <a:spLocks noGrp="1"/>
          </p:cNvSpPr>
          <p:nvPr/>
        </p:nvSpPr>
        <p:spPr>
          <a:xfrm>
            <a:off x="2600325" y="2428875"/>
            <a:ext cx="95250" cy="95250"/>
          </a:xfrm>
          <a:prstGeom prst="rtTriangle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E70B1C-4BCF-406C-8B8E-93C79204059C}"/>
              </a:ext>
            </a:extLst>
          </p:cNvPr>
          <p:cNvSpPr>
            <a:spLocks noGrp="1"/>
          </p:cNvSpPr>
          <p:nvPr/>
        </p:nvSpPr>
        <p:spPr>
          <a:xfrm>
            <a:off x="4095750" y="2476500"/>
            <a:ext cx="381000" cy="19050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69C03B2C-15E1-42CB-9DB1-D7387B13A3B0}"/>
              </a:ext>
            </a:extLst>
          </p:cNvPr>
          <p:cNvSpPr>
            <a:spLocks noGrp="1"/>
          </p:cNvSpPr>
          <p:nvPr/>
        </p:nvSpPr>
        <p:spPr>
          <a:xfrm>
            <a:off x="4410075" y="2428875"/>
            <a:ext cx="95250" cy="95250"/>
          </a:xfrm>
          <a:prstGeom prst="rtTriangle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4C1294-6247-4AAC-977B-69A92E5B0C5C}"/>
              </a:ext>
            </a:extLst>
          </p:cNvPr>
          <p:cNvSpPr>
            <a:spLocks noGrp="1"/>
          </p:cNvSpPr>
          <p:nvPr/>
        </p:nvSpPr>
        <p:spPr>
          <a:xfrm>
            <a:off x="5905500" y="2476500"/>
            <a:ext cx="381000" cy="19050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061B2C5D-BBA7-4B82-85A0-2645A66D6EA5}"/>
              </a:ext>
            </a:extLst>
          </p:cNvPr>
          <p:cNvSpPr>
            <a:spLocks noGrp="1"/>
          </p:cNvSpPr>
          <p:nvPr/>
        </p:nvSpPr>
        <p:spPr>
          <a:xfrm>
            <a:off x="6219825" y="2428875"/>
            <a:ext cx="95250" cy="95250"/>
          </a:xfrm>
          <a:prstGeom prst="rtTriangle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0E9A105-E09B-4A05-B733-F74943C342B8}"/>
              </a:ext>
            </a:extLst>
          </p:cNvPr>
          <p:cNvSpPr>
            <a:spLocks noGrp="1"/>
          </p:cNvSpPr>
          <p:nvPr/>
        </p:nvSpPr>
        <p:spPr>
          <a:xfrm>
            <a:off x="2286000" y="4343400"/>
            <a:ext cx="1066800" cy="19050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1F1B9E6A-9BF8-4455-BE16-71EF62A22FC1}"/>
              </a:ext>
            </a:extLst>
          </p:cNvPr>
          <p:cNvSpPr>
            <a:spLocks noGrp="1"/>
          </p:cNvSpPr>
          <p:nvPr/>
        </p:nvSpPr>
        <p:spPr>
          <a:xfrm>
            <a:off x="3286125" y="4295775"/>
            <a:ext cx="95250" cy="95250"/>
          </a:xfrm>
          <a:prstGeom prst="rtTriangle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E36E16-E05C-4682-852A-8D6F30EEBA52}"/>
              </a:ext>
            </a:extLst>
          </p:cNvPr>
          <p:cNvSpPr>
            <a:spLocks noGrp="1"/>
          </p:cNvSpPr>
          <p:nvPr/>
        </p:nvSpPr>
        <p:spPr>
          <a:xfrm>
            <a:off x="4781550" y="4343400"/>
            <a:ext cx="1295400" cy="19050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ight Triangle 33">
            <a:extLst>
              <a:ext uri="{FF2B5EF4-FFF2-40B4-BE49-F238E27FC236}">
                <a16:creationId xmlns:a16="http://schemas.microsoft.com/office/drawing/2014/main" id="{CD898F52-FC65-4AB9-98FB-7870D10EEC9C}"/>
              </a:ext>
            </a:extLst>
          </p:cNvPr>
          <p:cNvSpPr>
            <a:spLocks noGrp="1"/>
          </p:cNvSpPr>
          <p:nvPr/>
        </p:nvSpPr>
        <p:spPr>
          <a:xfrm>
            <a:off x="6010275" y="4295775"/>
            <a:ext cx="95250" cy="95250"/>
          </a:xfrm>
          <a:prstGeom prst="rtTriangle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F54D31E-0EE0-49EC-AAD5-442B1A2FAA05}"/>
              </a:ext>
            </a:extLst>
          </p:cNvPr>
          <p:cNvSpPr>
            <a:spLocks noGrp="1"/>
          </p:cNvSpPr>
          <p:nvPr/>
        </p:nvSpPr>
        <p:spPr>
          <a:xfrm>
            <a:off x="7505700" y="4343400"/>
            <a:ext cx="1333500" cy="19050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ight Triangle 35">
            <a:extLst>
              <a:ext uri="{FF2B5EF4-FFF2-40B4-BE49-F238E27FC236}">
                <a16:creationId xmlns:a16="http://schemas.microsoft.com/office/drawing/2014/main" id="{A038D558-3D1E-4BEF-ADCA-EE18C10DA650}"/>
              </a:ext>
            </a:extLst>
          </p:cNvPr>
          <p:cNvSpPr>
            <a:spLocks noGrp="1"/>
          </p:cNvSpPr>
          <p:nvPr/>
        </p:nvSpPr>
        <p:spPr>
          <a:xfrm>
            <a:off x="8772525" y="4295775"/>
            <a:ext cx="95250" cy="95250"/>
          </a:xfrm>
          <a:prstGeom prst="rtTriangle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E8D1D2-85E2-4957-823C-72F56BCAA63C}"/>
              </a:ext>
            </a:extLst>
          </p:cNvPr>
          <p:cNvSpPr>
            <a:spLocks noGrp="1"/>
          </p:cNvSpPr>
          <p:nvPr/>
        </p:nvSpPr>
        <p:spPr>
          <a:xfrm>
            <a:off x="1752600" y="5257800"/>
            <a:ext cx="8420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Invent</a:t>
            </a:r>
            <a:r>
              <a:rPr lang="sq-AL"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a</a:t>
            </a:r>
            <a:r>
              <a:rPr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r</a:t>
            </a:r>
            <a:r>
              <a:rPr lang="sq-AL"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i</a:t>
            </a:r>
            <a:r>
              <a:rPr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është</a:t>
            </a:r>
            <a:r>
              <a:rPr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nyja</a:t>
            </a:r>
            <a:r>
              <a:rPr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qendrore</a:t>
            </a:r>
            <a:r>
              <a:rPr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: </a:t>
            </a:r>
            <a:r>
              <a:rPr sz="150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kombinon</a:t>
            </a:r>
            <a:r>
              <a:rPr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produktin</a:t>
            </a:r>
            <a:r>
              <a:rPr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, </a:t>
            </a:r>
            <a:r>
              <a:rPr lang="sq-AL" sz="150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shportën</a:t>
            </a:r>
            <a:r>
              <a:rPr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, </a:t>
            </a:r>
            <a:r>
              <a:rPr lang="sq-AL"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serinë/grupin</a:t>
            </a:r>
            <a:r>
              <a:rPr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, </a:t>
            </a:r>
            <a:r>
              <a:rPr sz="150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skadencën</a:t>
            </a:r>
            <a:r>
              <a:rPr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, </a:t>
            </a:r>
            <a:r>
              <a:rPr lang="sq-AL"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sasinë në duar</a:t>
            </a:r>
            <a:r>
              <a:rPr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dhe</a:t>
            </a:r>
            <a:r>
              <a:rPr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sq-AL"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sasinë e rezervuar</a:t>
            </a:r>
            <a:r>
              <a:rPr sz="150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5789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5E60173-EAE5-44C3-A88F-5B39271FE7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D0CAD1-F6A9-465B-9526-FE54D504A0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7-marker">
            <a:extLst>
              <a:ext uri="{FF2B5EF4-FFF2-40B4-BE49-F238E27FC236}">
                <a16:creationId xmlns:a16="http://schemas.microsoft.com/office/drawing/2014/main" id="{4D7B7D4A-C1B4-4335-AC35-6FF3B264F0DF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186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1863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kicker-7-label">
            <a:extLst>
              <a:ext uri="{FF2B5EF4-FFF2-40B4-BE49-F238E27FC236}">
                <a16:creationId xmlns:a16="http://schemas.microsoft.com/office/drawing/2014/main" id="{758C7152-FD3D-4236-94AD-03849B8F0F44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A"/>
                </a:solidFill>
                <a:latin typeface="Aptos"/>
                <a:ea typeface="Aptos"/>
                <a:cs typeface="Aptos"/>
              </a:rPr>
              <a:t>LOGJIKA PRAKTIKE GJATË PUNËS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82D28C-BECA-4227-850F-9860EDDE3F77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Punëtori nuk duhet të mbajë mend rregullat: sistemi e drejton nga skanimi deri te konfirmimi.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870F07-AF67-419D-8A77-541AE399A93F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0096500" cy="9525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7E2E92-6FC0-4A85-95D8-20CE8C4A42D2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SMD - Sistem për Menaxhimin e Depos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BC3039-1D42-42BF-B25A-FF36BBBB313C}"/>
              </a:ext>
            </a:extLst>
          </p:cNvPr>
          <p:cNvSpPr>
            <a:spLocks noGrp="1"/>
          </p:cNvSpPr>
          <p:nvPr/>
        </p:nvSpPr>
        <p:spPr>
          <a:xfrm>
            <a:off x="10591800" y="64389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7/12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l="5914" r="5914"/>
          <a:stretch>
            <a:fillRect/>
          </a:stretch>
        </p:blipFill>
        <p:spPr>
          <a:xfrm>
            <a:off x="6838950" y="1771650"/>
            <a:ext cx="3905250" cy="2952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A6D7413-4DBF-49CC-912E-1C771CE61796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400050" cy="40005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FAD310-51FD-44AB-9D34-94FFBE0674B4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ACD974-686A-4A41-A0BA-2765E4B36BED}"/>
              </a:ext>
            </a:extLst>
          </p:cNvPr>
          <p:cNvSpPr>
            <a:spLocks noGrp="1"/>
          </p:cNvSpPr>
          <p:nvPr/>
        </p:nvSpPr>
        <p:spPr>
          <a:xfrm>
            <a:off x="1504950" y="18669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Identifiko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FB1130-39E8-4D21-B6C6-AF72291735BC}"/>
              </a:ext>
            </a:extLst>
          </p:cNvPr>
          <p:cNvSpPr>
            <a:spLocks noGrp="1"/>
          </p:cNvSpPr>
          <p:nvPr/>
        </p:nvSpPr>
        <p:spPr>
          <a:xfrm>
            <a:off x="1504950" y="21336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Produkti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gjendet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me SKU, barcode</a:t>
            </a:r>
            <a:r>
              <a:rPr lang="sq-AL"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QR code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ose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kërkim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811297-F8E1-49F7-B5B7-2BFF59DF6080}"/>
              </a:ext>
            </a:extLst>
          </p:cNvPr>
          <p:cNvSpPr>
            <a:spLocks noGrp="1"/>
          </p:cNvSpPr>
          <p:nvPr/>
        </p:nvSpPr>
        <p:spPr>
          <a:xfrm>
            <a:off x="876300" y="2609850"/>
            <a:ext cx="400050" cy="400050"/>
          </a:xfrm>
          <a:prstGeom prst="rect">
            <a:avLst/>
          </a:prstGeom>
          <a:solidFill>
            <a:srgbClr val="C18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64FACD-1129-477A-BDB8-085225014BF7}"/>
              </a:ext>
            </a:extLst>
          </p:cNvPr>
          <p:cNvSpPr>
            <a:spLocks noGrp="1"/>
          </p:cNvSpPr>
          <p:nvPr/>
        </p:nvSpPr>
        <p:spPr>
          <a:xfrm>
            <a:off x="876300" y="27051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73C656-82CA-4776-9773-623F8AAFC4F9}"/>
              </a:ext>
            </a:extLst>
          </p:cNvPr>
          <p:cNvSpPr>
            <a:spLocks noGrp="1"/>
          </p:cNvSpPr>
          <p:nvPr/>
        </p:nvSpPr>
        <p:spPr>
          <a:xfrm>
            <a:off x="1504950" y="26098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1" dirty="0" err="1">
                <a:solidFill>
                  <a:srgbClr val="10212B"/>
                </a:solidFill>
                <a:latin typeface="Aptos"/>
                <a:ea typeface="Aptos"/>
                <a:cs typeface="Aptos"/>
              </a:rPr>
              <a:t>Zgj</a:t>
            </a:r>
            <a:r>
              <a:rPr lang="sq-AL" sz="1275" b="1" dirty="0">
                <a:solidFill>
                  <a:srgbClr val="10212B"/>
                </a:solidFill>
                <a:latin typeface="Aptos"/>
                <a:ea typeface="Aptos"/>
                <a:cs typeface="Aptos"/>
              </a:rPr>
              <a:t>e</a:t>
            </a:r>
            <a:r>
              <a:rPr sz="1275" b="1" dirty="0">
                <a:solidFill>
                  <a:srgbClr val="10212B"/>
                </a:solidFill>
                <a:latin typeface="Aptos"/>
                <a:ea typeface="Aptos"/>
                <a:cs typeface="Aptos"/>
              </a:rPr>
              <a:t>dh </a:t>
            </a:r>
            <a:r>
              <a:rPr sz="1275" b="1" dirty="0" err="1">
                <a:solidFill>
                  <a:srgbClr val="10212B"/>
                </a:solidFill>
                <a:latin typeface="Aptos"/>
                <a:ea typeface="Aptos"/>
                <a:cs typeface="Aptos"/>
              </a:rPr>
              <a:t>lokacionin</a:t>
            </a:r>
            <a:endParaRPr sz="1275" b="1" dirty="0">
              <a:solidFill>
                <a:srgbClr val="10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0BA1A9-0212-412E-9BFF-4AD49294AAED}"/>
              </a:ext>
            </a:extLst>
          </p:cNvPr>
          <p:cNvSpPr>
            <a:spLocks noGrp="1"/>
          </p:cNvSpPr>
          <p:nvPr/>
        </p:nvSpPr>
        <p:spPr>
          <a:xfrm>
            <a:off x="1504950" y="28765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Sistemi ruan depo, zonë, raft dhe shportë.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97F55C-C0CF-4A0F-986A-7C04FAC9BDBB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400050" cy="400050"/>
          </a:xfrm>
          <a:prstGeom prst="rect">
            <a:avLst/>
          </a:prstGeom>
          <a:solidFill>
            <a:srgbClr val="3D6F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BB105B-96E6-49F1-8A2B-E4CA1BB6DB3F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A7BA40-4D1D-429D-B661-62DA93F67261}"/>
              </a:ext>
            </a:extLst>
          </p:cNvPr>
          <p:cNvSpPr>
            <a:spLocks noGrp="1"/>
          </p:cNvSpPr>
          <p:nvPr/>
        </p:nvSpPr>
        <p:spPr>
          <a:xfrm>
            <a:off x="1504950" y="33528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Kontrollo sasinë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118945-ED90-49CF-AA09-4D1C73BE5C9E}"/>
              </a:ext>
            </a:extLst>
          </p:cNvPr>
          <p:cNvSpPr>
            <a:spLocks noGrp="1"/>
          </p:cNvSpPr>
          <p:nvPr/>
        </p:nvSpPr>
        <p:spPr>
          <a:xfrm>
            <a:off x="1504950" y="36195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Disponueshmëria llogaritet para rezervimit.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09879-F9B4-4020-8E7B-8110F5A42312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400050" cy="400050"/>
          </a:xfrm>
          <a:prstGeom prst="rect">
            <a:avLst/>
          </a:prstGeom>
          <a:solidFill>
            <a:srgbClr val="4D8F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38DA34-78FB-43F6-AFD9-119CA5A6FE34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57CC43-8BA1-4BA7-A4F9-BAA28D4FD385}"/>
              </a:ext>
            </a:extLst>
          </p:cNvPr>
          <p:cNvSpPr>
            <a:spLocks noGrp="1"/>
          </p:cNvSpPr>
          <p:nvPr/>
        </p:nvSpPr>
        <p:spPr>
          <a:xfrm>
            <a:off x="1504950" y="40957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Konfirmo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9F7C90-DA26-4E00-B30B-AA6786DC7A75}"/>
              </a:ext>
            </a:extLst>
          </p:cNvPr>
          <p:cNvSpPr>
            <a:spLocks noGrp="1"/>
          </p:cNvSpPr>
          <p:nvPr/>
        </p:nvSpPr>
        <p:spPr>
          <a:xfrm>
            <a:off x="1504950" y="43624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Dokumenti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ndryshon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stokun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lang="sq-AL" sz="975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lenë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gjurmë</a:t>
            </a:r>
            <a:r>
              <a:rPr sz="975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25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531019D-79EB-43A9-BDB8-BA79C63711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3A31F3-D1A9-4B15-B6F7-8BAF82D54A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8-marker">
            <a:extLst>
              <a:ext uri="{FF2B5EF4-FFF2-40B4-BE49-F238E27FC236}">
                <a16:creationId xmlns:a16="http://schemas.microsoft.com/office/drawing/2014/main" id="{67F3B994-AEC8-494A-92B4-84FB3221E2B1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186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1863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kicker-8-label">
            <a:extLst>
              <a:ext uri="{FF2B5EF4-FFF2-40B4-BE49-F238E27FC236}">
                <a16:creationId xmlns:a16="http://schemas.microsoft.com/office/drawing/2014/main" id="{69C8D45A-08B9-43A8-8FBE-688ED77FD62D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A"/>
                </a:solidFill>
                <a:latin typeface="Aptos"/>
                <a:ea typeface="Aptos"/>
                <a:cs typeface="Aptos"/>
              </a:rPr>
              <a:t>RRJEDHA INBOUND/OUTBOUND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36DC55-32DD-4D15-95EF-5DA71F87DFED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Dokumenti është mekanizmi që e bën stokun të ndryshojë në mënyrë të kontrolluar.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9E5172-6AA2-42CE-A93E-EFC62FBB65F1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0096500" cy="9525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44F08A-955A-4606-85C4-E1F38C1DAA56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SMD - Sistem për Menaxhimin e Depos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27965A-B15C-4808-B752-2D893889257B}"/>
              </a:ext>
            </a:extLst>
          </p:cNvPr>
          <p:cNvSpPr>
            <a:spLocks noGrp="1"/>
          </p:cNvSpPr>
          <p:nvPr/>
        </p:nvSpPr>
        <p:spPr>
          <a:xfrm>
            <a:off x="10591800" y="64389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8/12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87E73C-0346-4501-8EA2-0579BD5E6DB7}"/>
              </a:ext>
            </a:extLst>
          </p:cNvPr>
          <p:cNvSpPr>
            <a:spLocks noGrp="1"/>
          </p:cNvSpPr>
          <p:nvPr/>
        </p:nvSpPr>
        <p:spPr>
          <a:xfrm>
            <a:off x="933450" y="2457450"/>
            <a:ext cx="2095500" cy="135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C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752B4D-D14D-4FD0-9815-EABB6146BC70}"/>
              </a:ext>
            </a:extLst>
          </p:cNvPr>
          <p:cNvSpPr>
            <a:spLocks noGrp="1"/>
          </p:cNvSpPr>
          <p:nvPr/>
        </p:nvSpPr>
        <p:spPr>
          <a:xfrm>
            <a:off x="1123950" y="27241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Draft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9EABDC-866F-425E-807D-DC991E431816}"/>
              </a:ext>
            </a:extLst>
          </p:cNvPr>
          <p:cNvSpPr>
            <a:spLocks noGrp="1"/>
          </p:cNvSpPr>
          <p:nvPr/>
        </p:nvSpPr>
        <p:spPr>
          <a:xfrm>
            <a:off x="1162050" y="3105150"/>
            <a:ext cx="1638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0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Përgatitet</a:t>
            </a: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dokumenti</a:t>
            </a: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rreshtat</a:t>
            </a:r>
            <a:r>
              <a:rPr lang="sq-AL"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me produkte</a:t>
            </a: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3085C5-A5FA-4948-B6BE-F7222D259A44}"/>
              </a:ext>
            </a:extLst>
          </p:cNvPr>
          <p:cNvSpPr>
            <a:spLocks noGrp="1"/>
          </p:cNvSpPr>
          <p:nvPr/>
        </p:nvSpPr>
        <p:spPr>
          <a:xfrm>
            <a:off x="3067050" y="3133725"/>
            <a:ext cx="514350" cy="19050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4F665899-AAC1-4FBD-BEB4-463A31067E01}"/>
              </a:ext>
            </a:extLst>
          </p:cNvPr>
          <p:cNvSpPr>
            <a:spLocks noGrp="1"/>
          </p:cNvSpPr>
          <p:nvPr/>
        </p:nvSpPr>
        <p:spPr>
          <a:xfrm>
            <a:off x="3514725" y="3086100"/>
            <a:ext cx="95250" cy="95250"/>
          </a:xfrm>
          <a:prstGeom prst="rtTriangle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801543-A4EC-408A-BBAD-059DACE5F0EE}"/>
              </a:ext>
            </a:extLst>
          </p:cNvPr>
          <p:cNvSpPr>
            <a:spLocks noGrp="1"/>
          </p:cNvSpPr>
          <p:nvPr/>
        </p:nvSpPr>
        <p:spPr>
          <a:xfrm>
            <a:off x="3657600" y="2457450"/>
            <a:ext cx="2095500" cy="135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C18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612B7B-9777-420D-B9F1-92B3A0AE689F}"/>
              </a:ext>
            </a:extLst>
          </p:cNvPr>
          <p:cNvSpPr>
            <a:spLocks noGrp="1"/>
          </p:cNvSpPr>
          <p:nvPr/>
        </p:nvSpPr>
        <p:spPr>
          <a:xfrm>
            <a:off x="3848100" y="27241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Validim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684AEE-CCC1-44AC-A0BB-26BD919D8C6D}"/>
              </a:ext>
            </a:extLst>
          </p:cNvPr>
          <p:cNvSpPr>
            <a:spLocks noGrp="1"/>
          </p:cNvSpPr>
          <p:nvPr/>
        </p:nvSpPr>
        <p:spPr>
          <a:xfrm>
            <a:off x="3886200" y="3105150"/>
            <a:ext cx="1638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0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Kontrollohen</a:t>
            </a: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produkti</a:t>
            </a: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90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shporta</a:t>
            </a: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90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sasia</a:t>
            </a: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statusi</a:t>
            </a: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7B0E17-0A3A-4E83-B805-4380CFE8C673}"/>
              </a:ext>
            </a:extLst>
          </p:cNvPr>
          <p:cNvSpPr>
            <a:spLocks noGrp="1"/>
          </p:cNvSpPr>
          <p:nvPr/>
        </p:nvSpPr>
        <p:spPr>
          <a:xfrm>
            <a:off x="5791200" y="3133725"/>
            <a:ext cx="514350" cy="19050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886158C0-F6DC-46AF-B563-BEF8E2CED79F}"/>
              </a:ext>
            </a:extLst>
          </p:cNvPr>
          <p:cNvSpPr>
            <a:spLocks noGrp="1"/>
          </p:cNvSpPr>
          <p:nvPr/>
        </p:nvSpPr>
        <p:spPr>
          <a:xfrm>
            <a:off x="6238875" y="3086100"/>
            <a:ext cx="95250" cy="95250"/>
          </a:xfrm>
          <a:prstGeom prst="rtTriangle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E5617E-43C5-46D6-B11A-B3CA02557178}"/>
              </a:ext>
            </a:extLst>
          </p:cNvPr>
          <p:cNvSpPr>
            <a:spLocks noGrp="1"/>
          </p:cNvSpPr>
          <p:nvPr/>
        </p:nvSpPr>
        <p:spPr>
          <a:xfrm>
            <a:off x="6381750" y="2457450"/>
            <a:ext cx="2095500" cy="135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3D6F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65C31E-7E56-4F6B-AC2F-92732C2F6559}"/>
              </a:ext>
            </a:extLst>
          </p:cNvPr>
          <p:cNvSpPr>
            <a:spLocks noGrp="1"/>
          </p:cNvSpPr>
          <p:nvPr/>
        </p:nvSpPr>
        <p:spPr>
          <a:xfrm>
            <a:off x="6572250" y="27241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Konfirmim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6BE510-CD1E-4605-A278-99436991AA14}"/>
              </a:ext>
            </a:extLst>
          </p:cNvPr>
          <p:cNvSpPr>
            <a:spLocks noGrp="1"/>
          </p:cNvSpPr>
          <p:nvPr/>
        </p:nvSpPr>
        <p:spPr>
          <a:xfrm>
            <a:off x="6610350" y="3105150"/>
            <a:ext cx="1638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Transaksioni ndryshon inventarin.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9022D9-1CB7-4C43-9AAC-E0949A755CEC}"/>
              </a:ext>
            </a:extLst>
          </p:cNvPr>
          <p:cNvSpPr>
            <a:spLocks noGrp="1"/>
          </p:cNvSpPr>
          <p:nvPr/>
        </p:nvSpPr>
        <p:spPr>
          <a:xfrm>
            <a:off x="8515350" y="3133725"/>
            <a:ext cx="514350" cy="19050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A14A9602-634B-4615-BE8F-48F351A53ABC}"/>
              </a:ext>
            </a:extLst>
          </p:cNvPr>
          <p:cNvSpPr>
            <a:spLocks noGrp="1"/>
          </p:cNvSpPr>
          <p:nvPr/>
        </p:nvSpPr>
        <p:spPr>
          <a:xfrm>
            <a:off x="8963025" y="3086100"/>
            <a:ext cx="95250" cy="95250"/>
          </a:xfrm>
          <a:prstGeom prst="rtTriangle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F54C1C-DD25-482D-83B0-54C67F863A4C}"/>
              </a:ext>
            </a:extLst>
          </p:cNvPr>
          <p:cNvSpPr>
            <a:spLocks noGrp="1"/>
          </p:cNvSpPr>
          <p:nvPr/>
        </p:nvSpPr>
        <p:spPr>
          <a:xfrm>
            <a:off x="9105900" y="2457450"/>
            <a:ext cx="2095500" cy="1352550"/>
          </a:xfrm>
          <a:prstGeom prst="rect">
            <a:avLst/>
          </a:prstGeom>
          <a:solidFill>
            <a:srgbClr val="FFFFFF"/>
          </a:solidFill>
          <a:ln w="19050">
            <a:solidFill>
              <a:srgbClr val="4D8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33B4EE-32C9-4F40-9EBD-3FE13B6A84FE}"/>
              </a:ext>
            </a:extLst>
          </p:cNvPr>
          <p:cNvSpPr>
            <a:spLocks noGrp="1"/>
          </p:cNvSpPr>
          <p:nvPr/>
        </p:nvSpPr>
        <p:spPr>
          <a:xfrm>
            <a:off x="9296400" y="27241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Gjurmë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E9E089-2FB9-4A69-827A-4827B86372B6}"/>
              </a:ext>
            </a:extLst>
          </p:cNvPr>
          <p:cNvSpPr>
            <a:spLocks noGrp="1"/>
          </p:cNvSpPr>
          <p:nvPr/>
        </p:nvSpPr>
        <p:spPr>
          <a:xfrm>
            <a:off x="9334500" y="3105150"/>
            <a:ext cx="1638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0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Krijohen</a:t>
            </a: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lang="sq-AL"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lëvizjet e depos</a:t>
            </a: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0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audit logs.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84EDB7-2A53-4C25-8D34-F07ECFBB4307}"/>
              </a:ext>
            </a:extLst>
          </p:cNvPr>
          <p:cNvSpPr>
            <a:spLocks noGrp="1"/>
          </p:cNvSpPr>
          <p:nvPr/>
        </p:nvSpPr>
        <p:spPr>
          <a:xfrm>
            <a:off x="1485900" y="4686300"/>
            <a:ext cx="8286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lang="sq-AL"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Hyrja</a:t>
            </a:r>
            <a:r>
              <a:rPr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6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rrit</a:t>
            </a:r>
            <a:r>
              <a:rPr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sq-AL" sz="165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</a:t>
            </a:r>
            <a:r>
              <a:rPr lang="sq-AL"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asinë në depo</a:t>
            </a:r>
            <a:r>
              <a:rPr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. </a:t>
            </a:r>
            <a:r>
              <a:rPr lang="sq-AL"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Dalja</a:t>
            </a:r>
            <a:r>
              <a:rPr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6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rezervon</a:t>
            </a:r>
            <a:r>
              <a:rPr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6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sasinë</a:t>
            </a:r>
            <a:r>
              <a:rPr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, </a:t>
            </a:r>
            <a:r>
              <a:rPr sz="16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kontrollon</a:t>
            </a:r>
            <a:r>
              <a:rPr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6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disponueshmërinë</a:t>
            </a:r>
            <a:r>
              <a:rPr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6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dhe</a:t>
            </a:r>
            <a:r>
              <a:rPr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6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në</a:t>
            </a:r>
            <a:r>
              <a:rPr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650" b="0" dirty="0" err="1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konfirmim</a:t>
            </a:r>
            <a:r>
              <a:rPr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ul </a:t>
            </a:r>
            <a:r>
              <a:rPr lang="sq-AL"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sasinë</a:t>
            </a:r>
            <a:r>
              <a:rPr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 </a:t>
            </a:r>
            <a:r>
              <a:rPr lang="sq-AL"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në depo</a:t>
            </a:r>
            <a:r>
              <a:rPr sz="1650" b="0" dirty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4040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0145F08-D6AF-42BB-8B74-308BC7F3DD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A29B27-92BB-48D7-8455-1D92E864AC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9-marker">
            <a:extLst>
              <a:ext uri="{FF2B5EF4-FFF2-40B4-BE49-F238E27FC236}">
                <a16:creationId xmlns:a16="http://schemas.microsoft.com/office/drawing/2014/main" id="{F4C74139-9B6C-448A-A5EC-6009F649EB7D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186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1863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kicker-9-label">
            <a:extLst>
              <a:ext uri="{FF2B5EF4-FFF2-40B4-BE49-F238E27FC236}">
                <a16:creationId xmlns:a16="http://schemas.microsoft.com/office/drawing/2014/main" id="{0401CF2F-DE21-49BD-AD3A-1D2BDE67AC0D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SIGURIA DHE KONTROLLI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81E1AA-949C-4893-92C8-6261CAB2A054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SMD ndan përgjegjësitë me role dhe ruan gjurmë për veprimet kryesore.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62CA0B-5FA3-43BF-81F7-FBE1C014B1E5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0096500" cy="9525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5D37DE-656D-4D6E-BEDA-2BFA8268E689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SMD - Sistem për Menaxhimin e Depos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6C6398-DF26-4172-8F06-2ABB0FC72B8F}"/>
              </a:ext>
            </a:extLst>
          </p:cNvPr>
          <p:cNvSpPr>
            <a:spLocks noGrp="1"/>
          </p:cNvSpPr>
          <p:nvPr/>
        </p:nvSpPr>
        <p:spPr>
          <a:xfrm>
            <a:off x="10591800" y="64389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9/12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FF68E1-2BF1-44CE-9D2D-01E7B2977C73}"/>
              </a:ext>
            </a:extLst>
          </p:cNvPr>
          <p:cNvSpPr>
            <a:spLocks noGrp="1"/>
          </p:cNvSpPr>
          <p:nvPr/>
        </p:nvSpPr>
        <p:spPr>
          <a:xfrm>
            <a:off x="952500" y="2171700"/>
            <a:ext cx="1657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562100" y="2381250"/>
            <a:ext cx="400050" cy="4000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FE1DB8-098E-4D1A-AF16-A082AB4B917D}"/>
              </a:ext>
            </a:extLst>
          </p:cNvPr>
          <p:cNvSpPr>
            <a:spLocks noGrp="1"/>
          </p:cNvSpPr>
          <p:nvPr/>
        </p:nvSpPr>
        <p:spPr>
          <a:xfrm>
            <a:off x="1104900" y="2971800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4692A1-150B-44A1-97A2-3E4D31090100}"/>
              </a:ext>
            </a:extLst>
          </p:cNvPr>
          <p:cNvSpPr>
            <a:spLocks noGrp="1"/>
          </p:cNvSpPr>
          <p:nvPr/>
        </p:nvSpPr>
        <p:spPr>
          <a:xfrm>
            <a:off x="1123950" y="3314700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Përdorues, audit logs, lëvizje direkte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88BC93-1295-425E-9EE6-A855BCDEE90E}"/>
              </a:ext>
            </a:extLst>
          </p:cNvPr>
          <p:cNvSpPr>
            <a:spLocks noGrp="1"/>
          </p:cNvSpPr>
          <p:nvPr/>
        </p:nvSpPr>
        <p:spPr>
          <a:xfrm>
            <a:off x="3000375" y="2171700"/>
            <a:ext cx="1657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609975" y="2381250"/>
            <a:ext cx="400050" cy="4000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EE11BF4-B609-45C6-82D7-2FBCF6910477}"/>
              </a:ext>
            </a:extLst>
          </p:cNvPr>
          <p:cNvSpPr>
            <a:spLocks noGrp="1"/>
          </p:cNvSpPr>
          <p:nvPr/>
        </p:nvSpPr>
        <p:spPr>
          <a:xfrm>
            <a:off x="3152775" y="2971800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Manager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ABEC06-C2E8-4CEF-9C5D-D9EF5625B45E}"/>
              </a:ext>
            </a:extLst>
          </p:cNvPr>
          <p:cNvSpPr>
            <a:spLocks noGrp="1"/>
          </p:cNvSpPr>
          <p:nvPr/>
        </p:nvSpPr>
        <p:spPr>
          <a:xfrm>
            <a:off x="3171825" y="3314700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Master data, dokumente, eksporte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58803E-06AC-412B-9252-E01CE9A9DC9D}"/>
              </a:ext>
            </a:extLst>
          </p:cNvPr>
          <p:cNvSpPr>
            <a:spLocks noGrp="1"/>
          </p:cNvSpPr>
          <p:nvPr/>
        </p:nvSpPr>
        <p:spPr>
          <a:xfrm>
            <a:off x="5048250" y="2171700"/>
            <a:ext cx="1657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Graphic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657850" y="2381250"/>
            <a:ext cx="400050" cy="40005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166068F-56C1-408A-A3E0-8A75D1F27506}"/>
              </a:ext>
            </a:extLst>
          </p:cNvPr>
          <p:cNvSpPr>
            <a:spLocks noGrp="1"/>
          </p:cNvSpPr>
          <p:nvPr/>
        </p:nvSpPr>
        <p:spPr>
          <a:xfrm>
            <a:off x="5200650" y="2971800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Supervisor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73BD58-5E9B-468D-963F-1983C20ECB04}"/>
              </a:ext>
            </a:extLst>
          </p:cNvPr>
          <p:cNvSpPr>
            <a:spLocks noGrp="1"/>
          </p:cNvSpPr>
          <p:nvPr/>
        </p:nvSpPr>
        <p:spPr>
          <a:xfrm>
            <a:off x="5219700" y="3314700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Konfirmime, raporte, operacione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DEC2D3-A11A-473C-8826-5910E81E6060}"/>
              </a:ext>
            </a:extLst>
          </p:cNvPr>
          <p:cNvSpPr>
            <a:spLocks noGrp="1"/>
          </p:cNvSpPr>
          <p:nvPr/>
        </p:nvSpPr>
        <p:spPr>
          <a:xfrm>
            <a:off x="7096125" y="2171700"/>
            <a:ext cx="1657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Graphic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705725" y="2381250"/>
            <a:ext cx="400050" cy="4000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8757FFC-023D-4094-AD5F-42D60642DEC8}"/>
              </a:ext>
            </a:extLst>
          </p:cNvPr>
          <p:cNvSpPr>
            <a:spLocks noGrp="1"/>
          </p:cNvSpPr>
          <p:nvPr/>
        </p:nvSpPr>
        <p:spPr>
          <a:xfrm>
            <a:off x="7248525" y="2971800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0D7A6E-7955-4D46-8DD6-5538955DA4B2}"/>
              </a:ext>
            </a:extLst>
          </p:cNvPr>
          <p:cNvSpPr>
            <a:spLocks noGrp="1"/>
          </p:cNvSpPr>
          <p:nvPr/>
        </p:nvSpPr>
        <p:spPr>
          <a:xfrm>
            <a:off x="7267575" y="3314700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Dokumente dhe punë ditore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B687F7-3585-4BBD-A98E-9A1632D57CC1}"/>
              </a:ext>
            </a:extLst>
          </p:cNvPr>
          <p:cNvSpPr>
            <a:spLocks noGrp="1"/>
          </p:cNvSpPr>
          <p:nvPr/>
        </p:nvSpPr>
        <p:spPr>
          <a:xfrm>
            <a:off x="1714500" y="4400550"/>
            <a:ext cx="3429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823EF6-9B68-4E8F-BA93-3A1712E8360C}"/>
              </a:ext>
            </a:extLst>
          </p:cNvPr>
          <p:cNvSpPr>
            <a:spLocks noGrp="1"/>
          </p:cNvSpPr>
          <p:nvPr/>
        </p:nvSpPr>
        <p:spPr>
          <a:xfrm>
            <a:off x="1714500" y="4400550"/>
            <a:ext cx="47625" cy="1143000"/>
          </a:xfrm>
          <a:prstGeom prst="rect">
            <a:avLst/>
          </a:prstGeom>
          <a:solidFill>
            <a:srgbClr val="3D6F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8D373C-D926-4539-971B-66ED447E0600}"/>
              </a:ext>
            </a:extLst>
          </p:cNvPr>
          <p:cNvSpPr>
            <a:spLocks noGrp="1"/>
          </p:cNvSpPr>
          <p:nvPr/>
        </p:nvSpPr>
        <p:spPr>
          <a:xfrm>
            <a:off x="1885950" y="4552950"/>
            <a:ext cx="3105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JWT + policies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DE9B7D-5788-42A4-8DBF-D83A68330131}"/>
              </a:ext>
            </a:extLst>
          </p:cNvPr>
          <p:cNvSpPr>
            <a:spLocks noGrp="1"/>
          </p:cNvSpPr>
          <p:nvPr/>
        </p:nvSpPr>
        <p:spPr>
          <a:xfrm>
            <a:off x="1885950" y="4876800"/>
            <a:ext cx="31051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API kontrollon identitetin dhe aksesin për endpoints si eksportet, audit logs, lëvizjet direkte dhe menaxhimin e përdoruesve.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AC4069-9A0E-427E-9DBF-D5C68A07BC68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3429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D5C390-2101-43B3-B590-8D9212DE9991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47625" cy="1143000"/>
          </a:xfrm>
          <a:prstGeom prst="rect">
            <a:avLst/>
          </a:prstGeom>
          <a:solidFill>
            <a:srgbClr val="B45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BC0FE2-5BEC-46F0-9095-EA85852495E3}"/>
              </a:ext>
            </a:extLst>
          </p:cNvPr>
          <p:cNvSpPr>
            <a:spLocks noGrp="1"/>
          </p:cNvSpPr>
          <p:nvPr/>
        </p:nvSpPr>
        <p:spPr>
          <a:xfrm>
            <a:off x="5981700" y="4552950"/>
            <a:ext cx="3105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lang="sq-AL" sz="1200" b="1" dirty="0">
                <a:solidFill>
                  <a:srgbClr val="10212B"/>
                </a:solidFill>
                <a:latin typeface="Aptos"/>
                <a:ea typeface="Aptos"/>
                <a:cs typeface="Aptos"/>
              </a:rPr>
              <a:t>Gjurmët e </a:t>
            </a:r>
            <a:r>
              <a:rPr sz="1200" b="1" dirty="0">
                <a:solidFill>
                  <a:srgbClr val="10212B"/>
                </a:solidFill>
                <a:latin typeface="Aptos"/>
                <a:ea typeface="Aptos"/>
                <a:cs typeface="Aptos"/>
              </a:rPr>
              <a:t>Audit</a:t>
            </a:r>
            <a:r>
              <a:rPr lang="sq-AL" sz="1200" b="1" dirty="0">
                <a:solidFill>
                  <a:srgbClr val="10212B"/>
                </a:solidFill>
                <a:latin typeface="Aptos"/>
                <a:ea typeface="Aptos"/>
                <a:cs typeface="Aptos"/>
              </a:rPr>
              <a:t>imit</a:t>
            </a:r>
            <a:endParaRPr sz="1200" b="1" dirty="0">
              <a:solidFill>
                <a:srgbClr val="10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EEC979-F99B-45C1-83D6-D8D97F15D832}"/>
              </a:ext>
            </a:extLst>
          </p:cNvPr>
          <p:cNvSpPr>
            <a:spLocks noGrp="1"/>
          </p:cNvSpPr>
          <p:nvPr/>
        </p:nvSpPr>
        <p:spPr>
          <a:xfrm>
            <a:off x="5981700" y="4876800"/>
            <a:ext cx="31051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Veprimet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regjistrohen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me </a:t>
            </a:r>
            <a:r>
              <a:rPr lang="sq-AL"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përdorues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lang="sq-AL"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entitet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lang="sq-AL"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veprim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detaje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IP, duke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ndihmuar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verifikimin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para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komisionit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në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prodhim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7205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72441BC-AFE2-4EED-9C50-4E3203E8AE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C2C641-5786-4981-A0E7-C0BE4B8297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0-marker">
            <a:extLst>
              <a:ext uri="{FF2B5EF4-FFF2-40B4-BE49-F238E27FC236}">
                <a16:creationId xmlns:a16="http://schemas.microsoft.com/office/drawing/2014/main" id="{4A32B1AC-F527-4D08-AED7-D373A0B1594E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186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1863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kicker-10-label">
            <a:extLst>
              <a:ext uri="{FF2B5EF4-FFF2-40B4-BE49-F238E27FC236}">
                <a16:creationId xmlns:a16="http://schemas.microsoft.com/office/drawing/2014/main" id="{AD6EC5FD-D7A1-4615-9BE6-5D4CDA187EA0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PËRFITIMET PËR BIZNESIN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1DE66-B3CE-4343-85C8-847E3EC37F16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SMD sjell vlerë sepse e lidh operacionin fizik me matje dhe kontroll menaxherial.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E16038-DD40-43A8-847B-FA434A086AEC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0096500" cy="9525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A8C7F7-1DC5-474C-A649-D682E316862A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SMD - Sistem për Menaxhimin e Depos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E391B5-6F1E-480E-A5D3-30A6EABBAF43}"/>
              </a:ext>
            </a:extLst>
          </p:cNvPr>
          <p:cNvSpPr>
            <a:spLocks noGrp="1"/>
          </p:cNvSpPr>
          <p:nvPr/>
        </p:nvSpPr>
        <p:spPr>
          <a:xfrm>
            <a:off x="10591800" y="64389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10/12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8784B9-4FBF-4016-B3D3-1020D9DF093D}"/>
              </a:ext>
            </a:extLst>
          </p:cNvPr>
          <p:cNvSpPr>
            <a:spLocks noGrp="1"/>
          </p:cNvSpPr>
          <p:nvPr/>
        </p:nvSpPr>
        <p:spPr>
          <a:xfrm>
            <a:off x="1047750" y="20764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Shpejtësi në proces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EF8CBE-E69F-4767-B906-37EC06B1E6A8}"/>
              </a:ext>
            </a:extLst>
          </p:cNvPr>
          <p:cNvSpPr>
            <a:spLocks noGrp="1"/>
          </p:cNvSpPr>
          <p:nvPr/>
        </p:nvSpPr>
        <p:spPr>
          <a:xfrm>
            <a:off x="3333750" y="2000250"/>
            <a:ext cx="4953000" cy="32385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B2F0FB-76D2-4282-B2A2-3DC23645A91B}"/>
              </a:ext>
            </a:extLst>
          </p:cNvPr>
          <p:cNvSpPr>
            <a:spLocks noGrp="1"/>
          </p:cNvSpPr>
          <p:nvPr/>
        </p:nvSpPr>
        <p:spPr>
          <a:xfrm>
            <a:off x="3333750" y="2000250"/>
            <a:ext cx="4259580" cy="32385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91E4DA-75F4-4B5F-A003-E982341093E3}"/>
              </a:ext>
            </a:extLst>
          </p:cNvPr>
          <p:cNvSpPr>
            <a:spLocks noGrp="1"/>
          </p:cNvSpPr>
          <p:nvPr/>
        </p:nvSpPr>
        <p:spPr>
          <a:xfrm>
            <a:off x="8591550" y="207645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më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pak hapa manual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59CB78-340E-4533-8D18-144F2FFE6C91}"/>
              </a:ext>
            </a:extLst>
          </p:cNvPr>
          <p:cNvSpPr>
            <a:spLocks noGrp="1"/>
          </p:cNvSpPr>
          <p:nvPr/>
        </p:nvSpPr>
        <p:spPr>
          <a:xfrm>
            <a:off x="1047750" y="26860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Saktësi në stok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67A01B-39CA-44EF-B9D0-9D7C929D27D8}"/>
              </a:ext>
            </a:extLst>
          </p:cNvPr>
          <p:cNvSpPr>
            <a:spLocks noGrp="1"/>
          </p:cNvSpPr>
          <p:nvPr/>
        </p:nvSpPr>
        <p:spPr>
          <a:xfrm>
            <a:off x="3333750" y="2609850"/>
            <a:ext cx="4953000" cy="32385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8583C6-1490-40CD-9C40-6C0AE4110704}"/>
              </a:ext>
            </a:extLst>
          </p:cNvPr>
          <p:cNvSpPr>
            <a:spLocks noGrp="1"/>
          </p:cNvSpPr>
          <p:nvPr/>
        </p:nvSpPr>
        <p:spPr>
          <a:xfrm>
            <a:off x="3333750" y="2609850"/>
            <a:ext cx="4507230" cy="323850"/>
          </a:xfrm>
          <a:prstGeom prst="rect">
            <a:avLst/>
          </a:prstGeom>
          <a:solidFill>
            <a:srgbClr val="3D6F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40E8F9-0C38-4958-9168-98A7D9917F22}"/>
              </a:ext>
            </a:extLst>
          </p:cNvPr>
          <p:cNvSpPr>
            <a:spLocks noGrp="1"/>
          </p:cNvSpPr>
          <p:nvPr/>
        </p:nvSpPr>
        <p:spPr>
          <a:xfrm>
            <a:off x="8591550" y="268605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rezervim dhe validim sasie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294057-D5D0-44ED-9087-C32E1C139ACD}"/>
              </a:ext>
            </a:extLst>
          </p:cNvPr>
          <p:cNvSpPr>
            <a:spLocks noGrp="1"/>
          </p:cNvSpPr>
          <p:nvPr/>
        </p:nvSpPr>
        <p:spPr>
          <a:xfrm>
            <a:off x="1047750" y="32956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Gjurmueshmëri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A82068-B609-475C-8AF6-FEF40EB12BE2}"/>
              </a:ext>
            </a:extLst>
          </p:cNvPr>
          <p:cNvSpPr>
            <a:spLocks noGrp="1"/>
          </p:cNvSpPr>
          <p:nvPr/>
        </p:nvSpPr>
        <p:spPr>
          <a:xfrm>
            <a:off x="3333750" y="3219450"/>
            <a:ext cx="4953000" cy="32385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9CD5DD-624F-4964-BB1C-065016685452}"/>
              </a:ext>
            </a:extLst>
          </p:cNvPr>
          <p:cNvSpPr>
            <a:spLocks noGrp="1"/>
          </p:cNvSpPr>
          <p:nvPr/>
        </p:nvSpPr>
        <p:spPr>
          <a:xfrm>
            <a:off x="3333750" y="3219450"/>
            <a:ext cx="4061460" cy="323850"/>
          </a:xfrm>
          <a:prstGeom prst="rect">
            <a:avLst/>
          </a:prstGeom>
          <a:solidFill>
            <a:srgbClr val="C18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9F68A5-E55A-4904-B72C-2C8F7C4D2525}"/>
              </a:ext>
            </a:extLst>
          </p:cNvPr>
          <p:cNvSpPr>
            <a:spLocks noGrp="1"/>
          </p:cNvSpPr>
          <p:nvPr/>
        </p:nvSpPr>
        <p:spPr>
          <a:xfrm>
            <a:off x="8591550" y="329565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kush, kur, çfarë ndryshoi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E6C031-DC45-4535-9058-329A9112337A}"/>
              </a:ext>
            </a:extLst>
          </p:cNvPr>
          <p:cNvSpPr>
            <a:spLocks noGrp="1"/>
          </p:cNvSpPr>
          <p:nvPr/>
        </p:nvSpPr>
        <p:spPr>
          <a:xfrm>
            <a:off x="1047750" y="39052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Vendimmarrje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DB24B0-2D19-4C13-A8D3-2B223F48C291}"/>
              </a:ext>
            </a:extLst>
          </p:cNvPr>
          <p:cNvSpPr>
            <a:spLocks noGrp="1"/>
          </p:cNvSpPr>
          <p:nvPr/>
        </p:nvSpPr>
        <p:spPr>
          <a:xfrm>
            <a:off x="3333750" y="3829050"/>
            <a:ext cx="4953000" cy="32385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A0B223-9DBE-49EC-A091-B14F98295BD2}"/>
              </a:ext>
            </a:extLst>
          </p:cNvPr>
          <p:cNvSpPr>
            <a:spLocks noGrp="1"/>
          </p:cNvSpPr>
          <p:nvPr/>
        </p:nvSpPr>
        <p:spPr>
          <a:xfrm>
            <a:off x="3333750" y="3829050"/>
            <a:ext cx="3863340" cy="323850"/>
          </a:xfrm>
          <a:prstGeom prst="rect">
            <a:avLst/>
          </a:prstGeom>
          <a:solidFill>
            <a:srgbClr val="4D8F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AA03A6-6BF4-4048-8BCB-8AA3909BD751}"/>
              </a:ext>
            </a:extLst>
          </p:cNvPr>
          <p:cNvSpPr>
            <a:spLocks noGrp="1"/>
          </p:cNvSpPr>
          <p:nvPr/>
        </p:nvSpPr>
        <p:spPr>
          <a:xfrm>
            <a:off x="8591550" y="390525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dashboard dhe alarme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8A6520-829A-4B7C-906D-F3A18B61D9DB}"/>
              </a:ext>
            </a:extLst>
          </p:cNvPr>
          <p:cNvSpPr>
            <a:spLocks noGrp="1"/>
          </p:cNvSpPr>
          <p:nvPr/>
        </p:nvSpPr>
        <p:spPr>
          <a:xfrm>
            <a:off x="1047750" y="45148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Kontroll financiar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BA86AF-8AD7-42F4-A498-B5B02CF5810F}"/>
              </a:ext>
            </a:extLst>
          </p:cNvPr>
          <p:cNvSpPr>
            <a:spLocks noGrp="1"/>
          </p:cNvSpPr>
          <p:nvPr/>
        </p:nvSpPr>
        <p:spPr>
          <a:xfrm>
            <a:off x="3333750" y="4438650"/>
            <a:ext cx="4953000" cy="32385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A9BFCF-643E-4686-80E9-F76D806BCBF5}"/>
              </a:ext>
            </a:extLst>
          </p:cNvPr>
          <p:cNvSpPr>
            <a:spLocks noGrp="1"/>
          </p:cNvSpPr>
          <p:nvPr/>
        </p:nvSpPr>
        <p:spPr>
          <a:xfrm>
            <a:off x="3333750" y="4438650"/>
            <a:ext cx="3566160" cy="323850"/>
          </a:xfrm>
          <a:prstGeom prst="rect">
            <a:avLst/>
          </a:prstGeom>
          <a:solidFill>
            <a:srgbClr val="B45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EABAC8-B9E4-4E95-A6A6-2FEF16158CEB}"/>
              </a:ext>
            </a:extLst>
          </p:cNvPr>
          <p:cNvSpPr>
            <a:spLocks noGrp="1"/>
          </p:cNvSpPr>
          <p:nvPr/>
        </p:nvSpPr>
        <p:spPr>
          <a:xfrm>
            <a:off x="8591550" y="451485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balanca me partnerë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DC632C-A04E-4BFB-B1AF-2DFDED2B25A8}"/>
              </a:ext>
            </a:extLst>
          </p:cNvPr>
          <p:cNvSpPr>
            <a:spLocks noGrp="1"/>
          </p:cNvSpPr>
          <p:nvPr/>
        </p:nvSpPr>
        <p:spPr>
          <a:xfrm>
            <a:off x="1219200" y="5391150"/>
            <a:ext cx="8763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Në praktikë, kjo do të thotë më pak humbje nga gabimet, më pak kohë për kërkim dhe më shumë besim në raportet ditore.</a:t>
            </a:r>
          </a:p>
        </p:txBody>
      </p:sp>
    </p:spTree>
    <p:extLst>
      <p:ext uri="{BB962C8B-B14F-4D97-AF65-F5344CB8AC3E}">
        <p14:creationId xmlns:p14="http://schemas.microsoft.com/office/powerpoint/2010/main" val="1417686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6094B6B-A89E-424D-850C-8B4E10C88B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F0F2D7-83B6-4154-B155-FFFCBD4AD7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1-marker">
            <a:extLst>
              <a:ext uri="{FF2B5EF4-FFF2-40B4-BE49-F238E27FC236}">
                <a16:creationId xmlns:a16="http://schemas.microsoft.com/office/drawing/2014/main" id="{BF60B776-D9D0-4386-84B4-6DE4651DC7C4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186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1863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kicker-11-label">
            <a:extLst>
              <a:ext uri="{FF2B5EF4-FFF2-40B4-BE49-F238E27FC236}">
                <a16:creationId xmlns:a16="http://schemas.microsoft.com/office/drawing/2014/main" id="{9473224B-F355-416A-9C54-ADFEEFCFC688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DEMO PARA KOMISIONIT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6D4BB2-417F-42FA-89FD-636322F56A6C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Demonstrimi duhet të ndjekë një histori të shkurtër pune, jo të hapen faqe rastësisht.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49DE48-E962-4D47-B3C1-AAF04296CF41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0096500" cy="9525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1449AC-2055-47D1-AD55-B6F627F9B7E7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SMD - Sistem për Menaxhimin e Depos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9742A8-D2B4-4F55-A04C-BE50460C6541}"/>
              </a:ext>
            </a:extLst>
          </p:cNvPr>
          <p:cNvSpPr>
            <a:spLocks noGrp="1"/>
          </p:cNvSpPr>
          <p:nvPr/>
        </p:nvSpPr>
        <p:spPr>
          <a:xfrm>
            <a:off x="10591800" y="64389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11/12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l="21111" r="21111"/>
          <a:stretch>
            <a:fillRect/>
          </a:stretch>
        </p:blipFill>
        <p:spPr>
          <a:xfrm>
            <a:off x="8001000" y="1695450"/>
            <a:ext cx="2724150" cy="31432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D78E816-0788-42AE-81F4-8EA976237FEF}"/>
              </a:ext>
            </a:extLst>
          </p:cNvPr>
          <p:cNvSpPr>
            <a:spLocks noGrp="1"/>
          </p:cNvSpPr>
          <p:nvPr/>
        </p:nvSpPr>
        <p:spPr>
          <a:xfrm>
            <a:off x="990600" y="1790700"/>
            <a:ext cx="419100" cy="41910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13A75D-4FA5-40A2-BE42-8A219A0C0C60}"/>
              </a:ext>
            </a:extLst>
          </p:cNvPr>
          <p:cNvSpPr>
            <a:spLocks noGrp="1"/>
          </p:cNvSpPr>
          <p:nvPr/>
        </p:nvSpPr>
        <p:spPr>
          <a:xfrm>
            <a:off x="990600" y="1885950"/>
            <a:ext cx="41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720E45-3B3D-42EB-80E5-4918C45C5238}"/>
              </a:ext>
            </a:extLst>
          </p:cNvPr>
          <p:cNvSpPr>
            <a:spLocks noGrp="1"/>
          </p:cNvSpPr>
          <p:nvPr/>
        </p:nvSpPr>
        <p:spPr>
          <a:xfrm>
            <a:off x="1695450" y="18097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0212B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BD34A6-7C8F-46AA-ABC9-8B99D9DC125C}"/>
              </a:ext>
            </a:extLst>
          </p:cNvPr>
          <p:cNvSpPr>
            <a:spLocks noGrp="1"/>
          </p:cNvSpPr>
          <p:nvPr/>
        </p:nvSpPr>
        <p:spPr>
          <a:xfrm>
            <a:off x="1695450" y="2076450"/>
            <a:ext cx="561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Hyrje me rol dhe shfaqje e layout-it.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BD3B62-5F7A-44A9-9D0E-B144FBEB4A21}"/>
              </a:ext>
            </a:extLst>
          </p:cNvPr>
          <p:cNvSpPr>
            <a:spLocks noGrp="1"/>
          </p:cNvSpPr>
          <p:nvPr/>
        </p:nvSpPr>
        <p:spPr>
          <a:xfrm>
            <a:off x="990600" y="2533650"/>
            <a:ext cx="419100" cy="419100"/>
          </a:xfrm>
          <a:prstGeom prst="rect">
            <a:avLst/>
          </a:prstGeom>
          <a:solidFill>
            <a:srgbClr val="C18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2D2B28-E33E-4EE0-AEC6-8738F8226F09}"/>
              </a:ext>
            </a:extLst>
          </p:cNvPr>
          <p:cNvSpPr>
            <a:spLocks noGrp="1"/>
          </p:cNvSpPr>
          <p:nvPr/>
        </p:nvSpPr>
        <p:spPr>
          <a:xfrm>
            <a:off x="990600" y="2628900"/>
            <a:ext cx="41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0AD704-E2FF-477B-B560-2D0C0EC5A49D}"/>
              </a:ext>
            </a:extLst>
          </p:cNvPr>
          <p:cNvSpPr>
            <a:spLocks noGrp="1"/>
          </p:cNvSpPr>
          <p:nvPr/>
        </p:nvSpPr>
        <p:spPr>
          <a:xfrm>
            <a:off x="1695450" y="25527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Master 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A858DB-B8CE-4898-8E67-DC5B0F595DEC}"/>
              </a:ext>
            </a:extLst>
          </p:cNvPr>
          <p:cNvSpPr>
            <a:spLocks noGrp="1"/>
          </p:cNvSpPr>
          <p:nvPr/>
        </p:nvSpPr>
        <p:spPr>
          <a:xfrm>
            <a:off x="1695450" y="2819400"/>
            <a:ext cx="561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Produkt</a:t>
            </a:r>
            <a:r>
              <a:rPr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</a:t>
            </a:r>
            <a:r>
              <a:rPr sz="105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klient</a:t>
            </a:r>
            <a:r>
              <a:rPr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/</a:t>
            </a:r>
            <a:r>
              <a:rPr lang="sq-AL"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furnizues</a:t>
            </a:r>
            <a:r>
              <a:rPr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lokacio</a:t>
            </a:r>
            <a:r>
              <a:rPr lang="sq-AL" sz="105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n i depos</a:t>
            </a:r>
            <a:r>
              <a:rPr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276475-CDCC-4B38-B36C-64D365735123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419100" cy="419100"/>
          </a:xfrm>
          <a:prstGeom prst="rect">
            <a:avLst/>
          </a:prstGeom>
          <a:solidFill>
            <a:srgbClr val="3D6F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C853F6-1458-484D-8F20-9A16A4FBB46D}"/>
              </a:ext>
            </a:extLst>
          </p:cNvPr>
          <p:cNvSpPr>
            <a:spLocks noGrp="1"/>
          </p:cNvSpPr>
          <p:nvPr/>
        </p:nvSpPr>
        <p:spPr>
          <a:xfrm>
            <a:off x="990600" y="3371850"/>
            <a:ext cx="41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19BA2F-6B4C-4E43-AE83-AAECA82F0C2C}"/>
              </a:ext>
            </a:extLst>
          </p:cNvPr>
          <p:cNvSpPr>
            <a:spLocks noGrp="1"/>
          </p:cNvSpPr>
          <p:nvPr/>
        </p:nvSpPr>
        <p:spPr>
          <a:xfrm>
            <a:off x="1695450" y="32956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lang="sq-AL" sz="1350" b="1" dirty="0">
                <a:solidFill>
                  <a:srgbClr val="10212B"/>
                </a:solidFill>
                <a:latin typeface="Aptos"/>
                <a:ea typeface="Aptos"/>
                <a:cs typeface="Aptos"/>
              </a:rPr>
              <a:t>Dokumente hyrëse</a:t>
            </a:r>
            <a:endParaRPr sz="1350" b="1" dirty="0">
              <a:solidFill>
                <a:srgbClr val="10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5536E2-E13C-4525-8583-FF6F6938EB43}"/>
              </a:ext>
            </a:extLst>
          </p:cNvPr>
          <p:cNvSpPr>
            <a:spLocks noGrp="1"/>
          </p:cNvSpPr>
          <p:nvPr/>
        </p:nvSpPr>
        <p:spPr>
          <a:xfrm>
            <a:off x="1695450" y="3562350"/>
            <a:ext cx="561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Draft -&gt; </a:t>
            </a:r>
            <a:r>
              <a:rPr sz="105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rreshta</a:t>
            </a:r>
            <a:r>
              <a:rPr lang="sq-AL"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me produkte</a:t>
            </a:r>
            <a:r>
              <a:rPr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-&gt; </a:t>
            </a:r>
            <a:r>
              <a:rPr sz="105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konfirmim</a:t>
            </a:r>
            <a:r>
              <a:rPr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-&gt; </a:t>
            </a:r>
            <a:r>
              <a:rPr sz="105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rritje</a:t>
            </a:r>
            <a:r>
              <a:rPr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lang="sq-AL"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e sasisë në depo</a:t>
            </a:r>
            <a:r>
              <a:rPr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41D8EA-3A2A-4528-A802-63A67E8F4707}"/>
              </a:ext>
            </a:extLst>
          </p:cNvPr>
          <p:cNvSpPr>
            <a:spLocks noGrp="1"/>
          </p:cNvSpPr>
          <p:nvPr/>
        </p:nvSpPr>
        <p:spPr>
          <a:xfrm>
            <a:off x="990600" y="4019550"/>
            <a:ext cx="419100" cy="419100"/>
          </a:xfrm>
          <a:prstGeom prst="rect">
            <a:avLst/>
          </a:prstGeom>
          <a:solidFill>
            <a:srgbClr val="4D8F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AFD7DE-DDAC-4B8A-B17C-6F29982D6B99}"/>
              </a:ext>
            </a:extLst>
          </p:cNvPr>
          <p:cNvSpPr>
            <a:spLocks noGrp="1"/>
          </p:cNvSpPr>
          <p:nvPr/>
        </p:nvSpPr>
        <p:spPr>
          <a:xfrm>
            <a:off x="990600" y="4114800"/>
            <a:ext cx="41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62DC53-5AF4-454F-B26E-9DC4A3A26E0D}"/>
              </a:ext>
            </a:extLst>
          </p:cNvPr>
          <p:cNvSpPr>
            <a:spLocks noGrp="1"/>
          </p:cNvSpPr>
          <p:nvPr/>
        </p:nvSpPr>
        <p:spPr>
          <a:xfrm>
            <a:off x="1695450" y="40386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lang="sq-AL" sz="1350" b="1" dirty="0">
                <a:solidFill>
                  <a:srgbClr val="10212B"/>
                </a:solidFill>
                <a:latin typeface="Aptos"/>
                <a:ea typeface="Aptos"/>
                <a:cs typeface="Aptos"/>
              </a:rPr>
              <a:t>Dokumente dalëse</a:t>
            </a:r>
            <a:endParaRPr sz="1350" b="1" dirty="0">
              <a:solidFill>
                <a:srgbClr val="10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B33710-EDBC-4D67-BDA2-5B2990AC6C49}"/>
              </a:ext>
            </a:extLst>
          </p:cNvPr>
          <p:cNvSpPr>
            <a:spLocks noGrp="1"/>
          </p:cNvSpPr>
          <p:nvPr/>
        </p:nvSpPr>
        <p:spPr>
          <a:xfrm>
            <a:off x="1695450" y="4305300"/>
            <a:ext cx="561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Rezervim</a:t>
            </a:r>
            <a:r>
              <a:rPr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-&gt; list</a:t>
            </a:r>
            <a:r>
              <a:rPr lang="sq-AL"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a për zgjedhje</a:t>
            </a:r>
            <a:r>
              <a:rPr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-&gt; </a:t>
            </a:r>
            <a:r>
              <a:rPr sz="1050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konfirmim</a:t>
            </a:r>
            <a:r>
              <a:rPr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-&gt; </a:t>
            </a:r>
            <a:r>
              <a:rPr lang="sq-AL"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ulje e sasisë në depo</a:t>
            </a:r>
            <a:r>
              <a:rPr sz="1050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F0682F-9CA7-4708-B986-AE008773C5F8}"/>
              </a:ext>
            </a:extLst>
          </p:cNvPr>
          <p:cNvSpPr>
            <a:spLocks noGrp="1"/>
          </p:cNvSpPr>
          <p:nvPr/>
        </p:nvSpPr>
        <p:spPr>
          <a:xfrm>
            <a:off x="990600" y="4762500"/>
            <a:ext cx="419100" cy="419100"/>
          </a:xfrm>
          <a:prstGeom prst="rect">
            <a:avLst/>
          </a:prstGeom>
          <a:solidFill>
            <a:srgbClr val="B451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1F5335-3900-4414-9D89-51542AD951C3}"/>
              </a:ext>
            </a:extLst>
          </p:cNvPr>
          <p:cNvSpPr>
            <a:spLocks noGrp="1"/>
          </p:cNvSpPr>
          <p:nvPr/>
        </p:nvSpPr>
        <p:spPr>
          <a:xfrm>
            <a:off x="990600" y="4857750"/>
            <a:ext cx="41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04C23D-000E-4768-9180-463DEE0703DD}"/>
              </a:ext>
            </a:extLst>
          </p:cNvPr>
          <p:cNvSpPr>
            <a:spLocks noGrp="1"/>
          </p:cNvSpPr>
          <p:nvPr/>
        </p:nvSpPr>
        <p:spPr>
          <a:xfrm>
            <a:off x="1695450" y="47815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Kontroll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D43BB2-F7BA-45B1-823F-B033305322AA}"/>
              </a:ext>
            </a:extLst>
          </p:cNvPr>
          <p:cNvSpPr>
            <a:spLocks noGrp="1"/>
          </p:cNvSpPr>
          <p:nvPr/>
        </p:nvSpPr>
        <p:spPr>
          <a:xfrm>
            <a:off x="1695450" y="5048250"/>
            <a:ext cx="561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Dashboard, audit logs, alarme dhe eksport.</a:t>
            </a:r>
          </a:p>
        </p:txBody>
      </p:sp>
    </p:spTree>
    <p:extLst>
      <p:ext uri="{BB962C8B-B14F-4D97-AF65-F5344CB8AC3E}">
        <p14:creationId xmlns:p14="http://schemas.microsoft.com/office/powerpoint/2010/main" val="1494527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A5B7BF2-E41F-4DAF-A11C-0DC5CA2536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5BA158-9354-4C5A-B873-7BE5CC231D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2-marker">
            <a:extLst>
              <a:ext uri="{FF2B5EF4-FFF2-40B4-BE49-F238E27FC236}">
                <a16:creationId xmlns:a16="http://schemas.microsoft.com/office/drawing/2014/main" id="{BF8DB9E3-CAD0-478F-A00E-8D8DEBB19032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186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1863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kicker-12-label">
            <a:extLst>
              <a:ext uri="{FF2B5EF4-FFF2-40B4-BE49-F238E27FC236}">
                <a16:creationId xmlns:a16="http://schemas.microsoft.com/office/drawing/2014/main" id="{5BFFAF36-88F2-448E-98AA-5F2463CD16AD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PËRFUNDIME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214902-C90E-44E2-9DF1-351811599634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SMD demonstron një zgjidhje të plotë, të zgjerueshme dhe praktike për menaxhimin e depos.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B9E39B-3FF4-425F-AD2D-C27C2C765D37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0096500" cy="9525"/>
          </a:xfrm>
          <a:prstGeom prst="rect">
            <a:avLst/>
          </a:prstGeom>
          <a:solidFill>
            <a:srgbClr val="D7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A83D60-AC66-46F7-9020-F3954EC3BCAE}"/>
              </a:ext>
            </a:extLst>
          </p:cNvPr>
          <p:cNvSpPr>
            <a:spLocks noGrp="1"/>
          </p:cNvSpPr>
          <p:nvPr/>
        </p:nvSpPr>
        <p:spPr>
          <a:xfrm>
            <a:off x="533400" y="64389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SMD - Sistem për Menaxhimin e Depos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5EB77A-B987-4E65-89BC-E41A5514CC20}"/>
              </a:ext>
            </a:extLst>
          </p:cNvPr>
          <p:cNvSpPr>
            <a:spLocks noGrp="1"/>
          </p:cNvSpPr>
          <p:nvPr/>
        </p:nvSpPr>
        <p:spPr>
          <a:xfrm>
            <a:off x="10591800" y="64389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36697E-AF63-49EF-9F82-2E4816404AC8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3009900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FD5FF5-2AF0-4B29-9872-CA8637C95F7C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47625" cy="1695450"/>
          </a:xfrm>
          <a:prstGeom prst="rect">
            <a:avLst/>
          </a:prstGeom>
          <a:solidFill>
            <a:srgbClr val="1B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EE524-A320-4B86-91A3-C40F5A4F1D36}"/>
              </a:ext>
            </a:extLst>
          </p:cNvPr>
          <p:cNvSpPr>
            <a:spLocks noGrp="1"/>
          </p:cNvSpPr>
          <p:nvPr/>
        </p:nvSpPr>
        <p:spPr>
          <a:xfrm>
            <a:off x="990600" y="2190750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Arritjet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17FC00-2032-4F54-9D41-26C446D13F4D}"/>
              </a:ext>
            </a:extLst>
          </p:cNvPr>
          <p:cNvSpPr>
            <a:spLocks noGrp="1"/>
          </p:cNvSpPr>
          <p:nvPr/>
        </p:nvSpPr>
        <p:spPr>
          <a:xfrm>
            <a:off x="990600" y="2514600"/>
            <a:ext cx="26860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U realizua një sistem me frontend, API, domain model, persistence, autentikim, autorizim, auditim dhe module operative.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92BA63-3669-46E7-A1BC-315F71671E7F}"/>
              </a:ext>
            </a:extLst>
          </p:cNvPr>
          <p:cNvSpPr>
            <a:spLocks noGrp="1"/>
          </p:cNvSpPr>
          <p:nvPr/>
        </p:nvSpPr>
        <p:spPr>
          <a:xfrm>
            <a:off x="4591050" y="2038350"/>
            <a:ext cx="3009900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9D80DE-7780-490E-8C0B-0E7855F158F6}"/>
              </a:ext>
            </a:extLst>
          </p:cNvPr>
          <p:cNvSpPr>
            <a:spLocks noGrp="1"/>
          </p:cNvSpPr>
          <p:nvPr/>
        </p:nvSpPr>
        <p:spPr>
          <a:xfrm>
            <a:off x="4591050" y="2038350"/>
            <a:ext cx="47625" cy="1695450"/>
          </a:xfrm>
          <a:prstGeom prst="rect">
            <a:avLst/>
          </a:prstGeom>
          <a:solidFill>
            <a:srgbClr val="C186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EB0512-2B02-400F-949A-2F2A6C020202}"/>
              </a:ext>
            </a:extLst>
          </p:cNvPr>
          <p:cNvSpPr>
            <a:spLocks noGrp="1"/>
          </p:cNvSpPr>
          <p:nvPr/>
        </p:nvSpPr>
        <p:spPr>
          <a:xfrm>
            <a:off x="4762500" y="2190750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Vlera praktike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788EA8-1F05-49D6-AB04-69B52727FF1A}"/>
              </a:ext>
            </a:extLst>
          </p:cNvPr>
          <p:cNvSpPr>
            <a:spLocks noGrp="1"/>
          </p:cNvSpPr>
          <p:nvPr/>
        </p:nvSpPr>
        <p:spPr>
          <a:xfrm>
            <a:off x="4762500" y="2514600"/>
            <a:ext cx="26860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Proceset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kryesore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të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lang="sq-AL"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depos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kontrollohen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me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dokumente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transaksione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, duke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ulur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gabimet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në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sasi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dhe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5717A"/>
                </a:solidFill>
                <a:latin typeface="Aptos"/>
                <a:ea typeface="Aptos"/>
                <a:cs typeface="Aptos"/>
              </a:rPr>
              <a:t>vendndodhje</a:t>
            </a:r>
            <a:r>
              <a:rPr sz="938" b="0" dirty="0">
                <a:solidFill>
                  <a:srgbClr val="65717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3DB5CB-8731-44B9-B3E9-3F0A3619AFDC}"/>
              </a:ext>
            </a:extLst>
          </p:cNvPr>
          <p:cNvSpPr>
            <a:spLocks noGrp="1"/>
          </p:cNvSpPr>
          <p:nvPr/>
        </p:nvSpPr>
        <p:spPr>
          <a:xfrm>
            <a:off x="8362950" y="2038350"/>
            <a:ext cx="3009900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E48B8A-BB5D-4233-AD23-ED653B5C60DD}"/>
              </a:ext>
            </a:extLst>
          </p:cNvPr>
          <p:cNvSpPr>
            <a:spLocks noGrp="1"/>
          </p:cNvSpPr>
          <p:nvPr/>
        </p:nvSpPr>
        <p:spPr>
          <a:xfrm>
            <a:off x="8362950" y="2038350"/>
            <a:ext cx="47625" cy="1695450"/>
          </a:xfrm>
          <a:prstGeom prst="rect">
            <a:avLst/>
          </a:prstGeom>
          <a:solidFill>
            <a:srgbClr val="3D6F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04388C-F91D-4F8B-BAB8-94D4A294C35B}"/>
              </a:ext>
            </a:extLst>
          </p:cNvPr>
          <p:cNvSpPr>
            <a:spLocks noGrp="1"/>
          </p:cNvSpPr>
          <p:nvPr/>
        </p:nvSpPr>
        <p:spPr>
          <a:xfrm>
            <a:off x="8534400" y="2190750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Zgjerimet e ardhshme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630183-47CE-41BF-88D9-F9DD962BEB8D}"/>
              </a:ext>
            </a:extLst>
          </p:cNvPr>
          <p:cNvSpPr>
            <a:spLocks noGrp="1"/>
          </p:cNvSpPr>
          <p:nvPr/>
        </p:nvSpPr>
        <p:spPr>
          <a:xfrm>
            <a:off x="8534400" y="2514600"/>
            <a:ext cx="26860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Skanim mobil, integrime me ERP, raporte BI, njoftime automatike dhe optimizim me rregulla inteligjente.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A18233-A7B5-4F99-BED9-84EEC0262A5D}"/>
              </a:ext>
            </a:extLst>
          </p:cNvPr>
          <p:cNvSpPr>
            <a:spLocks noGrp="1"/>
          </p:cNvSpPr>
          <p:nvPr/>
        </p:nvSpPr>
        <p:spPr>
          <a:xfrm>
            <a:off x="4076700" y="4686300"/>
            <a:ext cx="4000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600" b="0">
                <a:solidFill>
                  <a:srgbClr val="10212B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0212B"/>
                </a:solidFill>
                <a:latin typeface="Georgia"/>
                <a:ea typeface="Georgia"/>
                <a:cs typeface="Georgia"/>
              </a:rPr>
              <a:t>Pyetje?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D3724E-0763-4BC3-A05E-78E7388F494D}"/>
              </a:ext>
            </a:extLst>
          </p:cNvPr>
          <p:cNvSpPr>
            <a:spLocks noGrp="1"/>
          </p:cNvSpPr>
          <p:nvPr/>
        </p:nvSpPr>
        <p:spPr>
          <a:xfrm>
            <a:off x="4229100" y="53911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Faleminderit për vëmendjen.</a:t>
            </a:r>
          </a:p>
        </p:txBody>
      </p:sp>
    </p:spTree>
    <p:extLst>
      <p:ext uri="{BB962C8B-B14F-4D97-AF65-F5344CB8AC3E}">
        <p14:creationId xmlns:p14="http://schemas.microsoft.com/office/powerpoint/2010/main" val="19910054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1076</Words>
  <Application>Microsoft Office PowerPoint</Application>
  <DocSecurity>0</DocSecurity>
  <PresentationFormat>Widescreen</PresentationFormat>
  <Paragraphs>181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Aljimi, Ljiridon</cp:lastModifiedBy>
  <cp:revision>6</cp:revision>
  <dcterms:created xsi:type="dcterms:W3CDTF">2026-05-19T12:54:02Z</dcterms:created>
  <dcterms:modified xsi:type="dcterms:W3CDTF">2026-05-19T13:20:22Z</dcterms:modified>
</cp:coreProperties>
</file>